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75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slide" Target="slide10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2.png"/><Relationship Id="rId7" Type="http://schemas.openxmlformats.org/officeDocument/2006/relationships/slide" Target="slide2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slide" Target="slide4.xml"/><Relationship Id="rId4" Type="http://schemas.openxmlformats.org/officeDocument/2006/relationships/image" Target="../media/image7.png"/><Relationship Id="rId9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slide" Target="slide5.xml"/><Relationship Id="rId4" Type="http://schemas.openxmlformats.org/officeDocument/2006/relationships/image" Target="../media/image4.png"/><Relationship Id="rId9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5" Type="http://schemas.openxmlformats.org/officeDocument/2006/relationships/slide" Target="slide4.xml"/><Relationship Id="rId4" Type="http://schemas.openxmlformats.org/officeDocument/2006/relationships/slide" Target="slide2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16.png"/><Relationship Id="rId7" Type="http://schemas.openxmlformats.org/officeDocument/2006/relationships/slide" Target="slide2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slide" Target="slide8.xml"/><Relationship Id="rId5" Type="http://schemas.openxmlformats.org/officeDocument/2006/relationships/image" Target="../media/image20.png"/><Relationship Id="rId10" Type="http://schemas.openxmlformats.org/officeDocument/2006/relationships/slide" Target="slide6.xml"/><Relationship Id="rId4" Type="http://schemas.openxmlformats.org/officeDocument/2006/relationships/image" Target="../media/image19.png"/><Relationship Id="rId9" Type="http://schemas.openxmlformats.org/officeDocument/2006/relationships/slide" Target="slide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slide" Target="slide9.xml"/><Relationship Id="rId4" Type="http://schemas.openxmlformats.org/officeDocument/2006/relationships/slide" Target="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slide" Target="slide10.xml"/><Relationship Id="rId4" Type="http://schemas.openxmlformats.org/officeDocument/2006/relationships/slide" Target="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1.xml"/><Relationship Id="rId5" Type="http://schemas.openxmlformats.org/officeDocument/2006/relationships/slide" Target="slide9.xml"/><Relationship Id="rId4" Type="http://schemas.openxmlformats.org/officeDocument/2006/relationships/slide" Target="slide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slide" Target="slide10.xml"/><Relationship Id="rId4" Type="http://schemas.openxmlformats.org/officeDocument/2006/relationships/slide" Target="slide2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slide" Target="slide19.xml"/><Relationship Id="rId4" Type="http://schemas.openxmlformats.org/officeDocument/2006/relationships/slide" Target="slide2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0.xml"/><Relationship Id="rId4" Type="http://schemas.openxmlformats.org/officeDocument/2006/relationships/slide" Target="slide2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1.xml"/><Relationship Id="rId4" Type="http://schemas.openxmlformats.org/officeDocument/2006/relationships/slide" Target="slide2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2.xml"/><Relationship Id="rId4" Type="http://schemas.openxmlformats.org/officeDocument/2006/relationships/slide" Target="slide2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3.xml"/><Relationship Id="rId4" Type="http://schemas.openxmlformats.org/officeDocument/2006/relationships/slide" Target="slide2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4.xml"/><Relationship Id="rId4" Type="http://schemas.openxmlformats.org/officeDocument/2006/relationships/slide" Target="slide2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5.xml"/><Relationship Id="rId4" Type="http://schemas.openxmlformats.org/officeDocument/2006/relationships/slide" Target="slide2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slide" Target="slide1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1.xml"/><Relationship Id="rId5" Type="http://schemas.openxmlformats.org/officeDocument/2006/relationships/slide" Target="slide28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slide" Target="slide1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2.xml"/><Relationship Id="rId5" Type="http://schemas.openxmlformats.org/officeDocument/2006/relationships/slide" Target="slide28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slide" Target="slide1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3.xml"/><Relationship Id="rId5" Type="http://schemas.openxmlformats.org/officeDocument/2006/relationships/slide" Target="slide28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slide" Target="slide15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4.xml"/><Relationship Id="rId5" Type="http://schemas.openxmlformats.org/officeDocument/2006/relationships/slide" Target="slide28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slide" Target="slide16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5.xml"/><Relationship Id="rId5" Type="http://schemas.openxmlformats.org/officeDocument/2006/relationships/slide" Target="slide28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slide" Target="slide17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6.xml"/><Relationship Id="rId5" Type="http://schemas.openxmlformats.org/officeDocument/2006/relationships/slide" Target="slide28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slide" Target="slide18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7.xml"/><Relationship Id="rId5" Type="http://schemas.openxmlformats.org/officeDocument/2006/relationships/slide" Target="slide28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slide" Target="slide27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8.xml"/><Relationship Id="rId5" Type="http://schemas.openxmlformats.org/officeDocument/2006/relationships/slide" Target="slide28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6.xml"/><Relationship Id="rId5" Type="http://schemas.openxmlformats.org/officeDocument/2006/relationships/slide" Target="slide28.xml"/><Relationship Id="rId4" Type="http://schemas.openxmlformats.org/officeDocument/2006/relationships/slide" Target="slide1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2.xml"/><Relationship Id="rId7" Type="http://schemas.openxmlformats.org/officeDocument/2006/relationships/slide" Target="slide6.xml"/><Relationship Id="rId12" Type="http://schemas.openxmlformats.org/officeDocument/2006/relationships/slide" Target="slide1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11" Type="http://schemas.openxmlformats.org/officeDocument/2006/relationships/slide" Target="slide10.xml"/><Relationship Id="rId5" Type="http://schemas.openxmlformats.org/officeDocument/2006/relationships/slide" Target="slide4.xml"/><Relationship Id="rId10" Type="http://schemas.openxmlformats.org/officeDocument/2006/relationships/slide" Target="slide9.xml"/><Relationship Id="rId4" Type="http://schemas.openxmlformats.org/officeDocument/2006/relationships/slide" Target="slide3.xml"/><Relationship Id="rId9" Type="http://schemas.openxmlformats.org/officeDocument/2006/relationships/slide" Target="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Shape 2"/>
          <p:cNvSpPr/>
          <p:nvPr/>
        </p:nvSpPr>
        <p:spPr>
          <a:xfrm>
            <a:off x="6583680" y="0"/>
            <a:ext cx="36576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51560"/>
            <a:ext cx="201168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7315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PHISHING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AWARENESS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57200" y="21945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457200" y="3063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C4DE"/>
                </a:solidFill>
              </a:rPr>
              <a:t>Cybersecurity Education for Students &amp; Beginners</a:t>
            </a:r>
            <a:endParaRPr lang="en-US" sz="1400" dirty="0"/>
          </a:p>
        </p:txBody>
      </p:sp>
      <p:sp>
        <p:nvSpPr>
          <p:cNvPr id="10" name="Shape 7">
            <a:hlinkClick r:id="rId4" action="ppaction://hlinksldjump"/>
          </p:cNvPr>
          <p:cNvSpPr/>
          <p:nvPr/>
        </p:nvSpPr>
        <p:spPr>
          <a:xfrm>
            <a:off x="1028700" y="3525012"/>
            <a:ext cx="1554480" cy="292608"/>
          </a:xfrm>
          <a:prstGeom prst="roundRect">
            <a:avLst>
              <a:gd name="adj" fmla="val 31250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1" name="Text 8">
            <a:hlinkClick r:id="rId4" action="ppaction://hlinksldjump"/>
          </p:cNvPr>
          <p:cNvSpPr/>
          <p:nvPr/>
        </p:nvSpPr>
        <p:spPr>
          <a:xfrm>
            <a:off x="1005840" y="351129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00C6FF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 Modules</a:t>
            </a:r>
            <a:endParaRPr lang="en-US" sz="1000" dirty="0"/>
          </a:p>
        </p:txBody>
      </p:sp>
      <p:sp>
        <p:nvSpPr>
          <p:cNvPr id="12" name="Shape 9">
            <a:hlinkClick r:id="rId5" action="ppaction://hlinksldjump"/>
          </p:cNvPr>
          <p:cNvSpPr/>
          <p:nvPr/>
        </p:nvSpPr>
        <p:spPr>
          <a:xfrm>
            <a:off x="2720340" y="3520440"/>
            <a:ext cx="1554480" cy="292608"/>
          </a:xfrm>
          <a:prstGeom prst="roundRect">
            <a:avLst>
              <a:gd name="adj" fmla="val 31250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3" name="Text 10">
            <a:hlinkClick r:id="rId5" action="ppaction://hlinksldjump"/>
          </p:cNvPr>
          <p:cNvSpPr/>
          <p:nvPr/>
        </p:nvSpPr>
        <p:spPr>
          <a:xfrm>
            <a:off x="2674620" y="35052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00C6FF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Interactive Quiz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35025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9CC0"/>
                </a:solidFill>
              </a:rPr>
              <a:t>Click NEXT to begin your training →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2FF"/>
          </a:solidFill>
          <a:ln w="12700">
            <a:solidFill>
              <a:srgbClr val="0072FF"/>
            </a:solidFill>
            <a:prstDash val="solid"/>
          </a:ln>
        </p:spPr>
      </p:sp>
      <p:sp>
        <p:nvSpPr>
          <p:cNvPr id="16" name="Shape 13">
            <a:hlinkClick r:id="rId4" action="ppaction://hlinksldjump"/>
          </p:cNvPr>
          <p:cNvSpPr/>
          <p:nvPr/>
        </p:nvSpPr>
        <p:spPr>
          <a:xfrm>
            <a:off x="8359140" y="468630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7" name="Text 14">
            <a:hlinkClick r:id="rId4" action="ppaction://hlinksldjump"/>
          </p:cNvPr>
          <p:cNvSpPr/>
          <p:nvPr/>
        </p:nvSpPr>
        <p:spPr>
          <a:xfrm>
            <a:off x="8359140" y="46863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1480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CC0"/>
                </a:solidFill>
              </a:rPr>
              <a:t>1 / 28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795528"/>
            <a:ext cx="1463040" cy="20116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955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INTRODUCTION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Phishing?</a:t>
            </a:r>
            <a:endParaRPr lang="en-US" sz="3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502920"/>
            <a:ext cx="1554480" cy="1554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097280"/>
            <a:ext cx="6583680" cy="960120"/>
          </a:xfrm>
          <a:prstGeom prst="rect">
            <a:avLst/>
          </a:prstGeom>
          <a:solidFill>
            <a:srgbClr val="1E3250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1170432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Phishing is a type of cyber attack where criminals impersonate trusted organizations or individuals to trick victims into revealing sensitive information — such as passwords, credit card numbers, or personal data.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2240280"/>
            <a:ext cx="2606040" cy="228600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3317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331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4444"/>
                </a:solidFill>
              </a:rPr>
              <a:t>Most Common Attack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7200" y="2816352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0C4DE"/>
                </a:solidFill>
              </a:rPr>
              <a:t>Phishing accounts for over 90% of all data breaches worldwide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3200400" y="2240280"/>
            <a:ext cx="2606040" cy="228600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233172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49040" y="2331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703"/>
                </a:solidFill>
              </a:rPr>
              <a:t>Financially Devastating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291840" y="2816352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0C4DE"/>
                </a:solidFill>
              </a:rPr>
              <a:t>Phishing costs businesses $1.8 billion annually in the US alone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035040" y="2240280"/>
            <a:ext cx="2606040" cy="228600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233172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83680" y="2331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D6A0"/>
                </a:solidFill>
              </a:rPr>
              <a:t>Hard to Detect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6126480" y="2816352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0C4DE"/>
                </a:solidFill>
              </a:rPr>
              <a:t>Modern phishing emails fool even tech-savvy professionals</a:t>
            </a:r>
            <a:endParaRPr lang="en-US" sz="1600" dirty="0"/>
          </a:p>
        </p:txBody>
      </p:sp>
      <p:sp>
        <p:nvSpPr>
          <p:cNvPr id="21" name="Shape 15">
            <a:hlinkClick r:id="rId7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2" name="Text 16">
            <a:hlinkClick r:id="rId7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HOME</a:t>
            </a:r>
            <a:endParaRPr lang="en-US" sz="900" dirty="0"/>
          </a:p>
        </p:txBody>
      </p:sp>
      <p:sp>
        <p:nvSpPr>
          <p:cNvPr id="23" name="Shape 17">
            <a:hlinkClick r:id="rId8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4" name="Text 18">
            <a:hlinkClick r:id="rId8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900" dirty="0"/>
          </a:p>
        </p:txBody>
      </p:sp>
      <p:sp>
        <p:nvSpPr>
          <p:cNvPr id="25" name="Shape 19">
            <a:hlinkClick r:id="rId9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6" name="Text 20">
            <a:hlinkClick r:id="rId9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11480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CC0"/>
                </a:solidFill>
              </a:rPr>
              <a:t>2 / 28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" y="0"/>
            <a:ext cx="9144000" cy="73152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713232"/>
            <a:ext cx="1463040" cy="20116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178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TYPES OF PHISHING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Types of Phishing Attacks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606040" cy="1719072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2606040" cy="73152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20700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2070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6FF"/>
                </a:solidFill>
              </a:rPr>
              <a:t>Email Phishing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75488" y="1755648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Mass fraudulent emails mimicking trusted brands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00400" y="1005840"/>
            <a:ext cx="2606040" cy="1719072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005840"/>
            <a:ext cx="260604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20700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40480" y="12070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</a:rPr>
              <a:t>Spear Phishing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310128" y="1755648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Targeted attacks using personal details about the victim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035040" y="1005840"/>
            <a:ext cx="2606040" cy="1719072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35040" y="1005840"/>
            <a:ext cx="260604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120700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75120" y="12070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D6A0"/>
                </a:solidFill>
              </a:rPr>
              <a:t>Smishing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144768" y="1755648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SMS text messages with malicious links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1691640" y="2971800"/>
            <a:ext cx="2606040" cy="1719072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691640" y="2971800"/>
            <a:ext cx="2606040" cy="7315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1368" y="3172968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331720" y="3172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703"/>
                </a:solidFill>
              </a:rPr>
              <a:t>Vishing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1801368" y="3721608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Voice calls impersonating banks or tech support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4526280" y="2971800"/>
            <a:ext cx="2606040" cy="1719072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26280" y="2971800"/>
            <a:ext cx="2606040" cy="7315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6008" y="3172968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66360" y="3172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4444"/>
                </a:solidFill>
              </a:rPr>
              <a:t>BEC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4636008" y="3721608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Business Email Compromise targeting employees</a:t>
            </a:r>
            <a:endParaRPr lang="en-US" sz="1400" dirty="0"/>
          </a:p>
        </p:txBody>
      </p:sp>
      <p:sp>
        <p:nvSpPr>
          <p:cNvPr id="31" name="Shape 24">
            <a:hlinkClick r:id="rId8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2" name="Text 25">
            <a:hlinkClick r:id="rId8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HOME</a:t>
            </a:r>
            <a:endParaRPr lang="en-US" sz="900" dirty="0"/>
          </a:p>
        </p:txBody>
      </p:sp>
      <p:sp>
        <p:nvSpPr>
          <p:cNvPr id="33" name="Shape 26">
            <a:hlinkClick r:id="rId9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4" name="Text 27">
            <a:hlinkClick r:id="rId9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900" dirty="0"/>
          </a:p>
        </p:txBody>
      </p:sp>
      <p:sp>
        <p:nvSpPr>
          <p:cNvPr id="35" name="Shape 28">
            <a:hlinkClick r:id="rId10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6" name="Text 29">
            <a:hlinkClick r:id="rId10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411480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CC0"/>
                </a:solidFill>
              </a:rPr>
              <a:t>3 / 28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65760" y="640080"/>
            <a:ext cx="1463040" cy="20116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9560" y="6416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RECOGNITION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89560" y="7467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Red Flags to Watch For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676656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109728" cy="676656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024128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960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Suspicious Email Address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15568" y="128016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C4DE"/>
                </a:solidFill>
              </a:rPr>
              <a:t>sender@amaz0n-support.com instead of amazon.com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" y="1682496"/>
            <a:ext cx="8412480" cy="676656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1682496"/>
            <a:ext cx="109728" cy="676656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79222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15568" y="172821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Urgent / Threatening Language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115568" y="204825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C4DE"/>
                </a:solidFill>
              </a:rPr>
              <a:t>"Your account will be closed in 24 hours!"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65760" y="2450592"/>
            <a:ext cx="8412480" cy="676656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2450592"/>
            <a:ext cx="109728" cy="676656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560320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15568" y="24963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Fake Login Pages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115568" y="281635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C4DE"/>
                </a:solidFill>
              </a:rPr>
              <a:t>Lookalike sites that steal your credentials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365760" y="3218688"/>
            <a:ext cx="8412480" cy="676656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65760" y="3218688"/>
            <a:ext cx="109728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328416"/>
            <a:ext cx="438912" cy="4389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15568" y="32644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Unexpected Attachments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1115568" y="358444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C4DE"/>
                </a:solidFill>
              </a:rPr>
              <a:t>Malware hiding in .zip, .doc, or .pdf files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365760" y="3986784"/>
            <a:ext cx="8412480" cy="676656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65760" y="3986784"/>
            <a:ext cx="109728" cy="67665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096512"/>
            <a:ext cx="438912" cy="43891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15568" y="403250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Grammar &amp; Spelling Mistakes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1115568" y="435254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C4DE"/>
                </a:solidFill>
              </a:rPr>
              <a:t>"Dear Valued Costumer, you're acount..."</a:t>
            </a:r>
            <a:endParaRPr lang="en-US" sz="1400" dirty="0"/>
          </a:p>
        </p:txBody>
      </p:sp>
      <p:sp>
        <p:nvSpPr>
          <p:cNvPr id="31" name="Shape 24">
            <a:hlinkClick r:id="rId8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2" name="Text 25">
            <a:hlinkClick r:id="rId8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HOME</a:t>
            </a:r>
            <a:endParaRPr lang="en-US" sz="900" dirty="0"/>
          </a:p>
        </p:txBody>
      </p:sp>
      <p:sp>
        <p:nvSpPr>
          <p:cNvPr id="33" name="Shape 26">
            <a:hlinkClick r:id="rId9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4" name="Text 27">
            <a:hlinkClick r:id="rId9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900" dirty="0"/>
          </a:p>
        </p:txBody>
      </p:sp>
      <p:sp>
        <p:nvSpPr>
          <p:cNvPr id="35" name="Shape 28">
            <a:hlinkClick r:id="rId10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6" name="Text 29">
            <a:hlinkClick r:id="rId10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411480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CC0"/>
                </a:solidFill>
              </a:rPr>
              <a:t>4 / 28</a:t>
            </a:r>
            <a:endParaRPr lang="en-US" sz="800" dirty="0"/>
          </a:p>
        </p:txBody>
      </p:sp>
      <p:sp>
        <p:nvSpPr>
          <p:cNvPr id="39" name="Shape 0">
            <a:extLst>
              <a:ext uri="{FF2B5EF4-FFF2-40B4-BE49-F238E27FC236}">
                <a16:creationId xmlns:a16="http://schemas.microsoft.com/office/drawing/2014/main" id="{093AE883-3037-180F-88AD-9470D28E447C}"/>
              </a:ext>
            </a:extLst>
          </p:cNvPr>
          <p:cNvSpPr/>
          <p:nvPr/>
        </p:nvSpPr>
        <p:spPr>
          <a:xfrm>
            <a:off x="7620" y="0"/>
            <a:ext cx="9144000" cy="73152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65760" y="626364"/>
            <a:ext cx="1463040" cy="20116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 2"/>
          <p:cNvSpPr/>
          <p:nvPr/>
        </p:nvSpPr>
        <p:spPr>
          <a:xfrm>
            <a:off x="320040" y="6202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FAKE WEBSITES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83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URL Tricks &amp; Fake Websites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023360" cy="356616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703"/>
                </a:solidFill>
              </a:rPr>
              <a:t>⚠️  Misleading Domain Examples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paypa1.com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9CC0"/>
                </a:solidFill>
              </a:rPr>
              <a:t>✗ Digit 1 instead of 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amazon-secure.net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9CC0"/>
                </a:solidFill>
              </a:rPr>
              <a:t>✗ Added word, wrong TLD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606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google.com.login-verify.info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880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9CC0"/>
                </a:solidFill>
              </a:rPr>
              <a:t>✗ Subdomain deception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rn.icrosoft.com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474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9CC0"/>
                </a:solidFill>
              </a:rPr>
              <a:t>✗ rn looks like 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794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secure-bankofamerica.com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069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9CC0"/>
                </a:solidFill>
              </a:rPr>
              <a:t>✗ Prefix deception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914400"/>
            <a:ext cx="4114800" cy="356616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24128"/>
            <a:ext cx="411480" cy="4114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285232" y="1005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D6A0"/>
                </a:solidFill>
              </a:rPr>
              <a:t>How to Stay Safe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754880" y="157276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1.  Always check the full URL before clicking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754880" y="2139696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2.  HTTPS + padlock = encrypted only, NOT guaranteed safe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754880" y="2706624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3.  Hover over links to preview the real destination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754880" y="327355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4.  Type URLs directly — never click email links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754880" y="384048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5.  Use browser security extensions (uBlock Origin)</a:t>
            </a:r>
            <a:endParaRPr lang="en-US" sz="1400" dirty="0"/>
          </a:p>
        </p:txBody>
      </p:sp>
      <p:sp>
        <p:nvSpPr>
          <p:cNvPr id="26" name="Shape 23">
            <a:hlinkClick r:id="rId4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7" name="Text 24">
            <a:hlinkClick r:id="rId4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HOME</a:t>
            </a:r>
            <a:endParaRPr lang="en-US" sz="900" dirty="0"/>
          </a:p>
        </p:txBody>
      </p:sp>
      <p:sp>
        <p:nvSpPr>
          <p:cNvPr id="28" name="Shape 25">
            <a:hlinkClick r:id="rId5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9" name="Text 26">
            <a:hlinkClick r:id="rId5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900" dirty="0"/>
          </a:p>
        </p:txBody>
      </p:sp>
      <p:sp>
        <p:nvSpPr>
          <p:cNvPr id="30" name="Shape 27">
            <a:hlinkClick r:id="rId6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1" name="Text 28">
            <a:hlinkClick r:id="rId6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11480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CC0"/>
                </a:solidFill>
              </a:rPr>
              <a:t>5 / 28</a:t>
            </a:r>
            <a:endParaRPr lang="en-US" sz="800" dirty="0"/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35421197-EA25-93CD-39E0-57D71E16FC4D}"/>
              </a:ext>
            </a:extLst>
          </p:cNvPr>
          <p:cNvSpPr/>
          <p:nvPr/>
        </p:nvSpPr>
        <p:spPr>
          <a:xfrm>
            <a:off x="7620" y="0"/>
            <a:ext cx="9144000" cy="73152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65760" y="681228"/>
            <a:ext cx="1463040" cy="20116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7660" y="6812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SOCIAL ENGINEERING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07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Engineering Tactics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069080" cy="178308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4069080" cy="6400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12471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C6FF"/>
                </a:solidFill>
              </a:rPr>
              <a:t>Impersonation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02920" y="170992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Attackers pose as IT support, executives, banks, or government agencies to gain your trust before making requests.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54880" y="960120"/>
            <a:ext cx="4069080" cy="178308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960120"/>
            <a:ext cx="4069080" cy="6400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1430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112471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4444"/>
                </a:solidFill>
              </a:rPr>
              <a:t>Fear Tactics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892040" y="170992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"Your account has been compromised!" or "You owe taxes — pay now or face arrest!"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65760" y="2926080"/>
            <a:ext cx="4069080" cy="178308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2926080"/>
            <a:ext cx="4069080" cy="6400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10896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560" y="309067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B703"/>
                </a:solidFill>
              </a:rPr>
              <a:t>Urgency Manipulation</a:t>
            </a: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502920" y="367588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Artificial time pressure prevents thinking clearly: "This offer expires in 10 minutes!"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754880" y="2926080"/>
            <a:ext cx="4069080" cy="178308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2926080"/>
            <a:ext cx="406908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10896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40680" y="309067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D6A0"/>
                </a:solidFill>
              </a:rPr>
              <a:t>Trust Exploitation</a:t>
            </a: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4892040" y="367588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Using real names, company, or recent activity scraped from LinkedIn/social media to seem legitimate.</a:t>
            </a:r>
            <a:endParaRPr lang="en-US" sz="1400" dirty="0"/>
          </a:p>
        </p:txBody>
      </p:sp>
      <p:sp>
        <p:nvSpPr>
          <p:cNvPr id="26" name="Shape 20">
            <a:hlinkClick r:id="rId7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7" name="Text 21">
            <a:hlinkClick r:id="rId7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HOME</a:t>
            </a:r>
            <a:endParaRPr lang="en-US" sz="900" dirty="0"/>
          </a:p>
        </p:txBody>
      </p:sp>
      <p:sp>
        <p:nvSpPr>
          <p:cNvPr id="28" name="Shape 22">
            <a:hlinkClick r:id="rId8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9" name="Text 23">
            <a:hlinkClick r:id="rId8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900" dirty="0"/>
          </a:p>
        </p:txBody>
      </p:sp>
      <p:sp>
        <p:nvSpPr>
          <p:cNvPr id="30" name="Shape 24">
            <a:hlinkClick r:id="rId9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1" name="Text 25">
            <a:hlinkClick r:id="rId9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411480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CC0"/>
                </a:solidFill>
              </a:rPr>
              <a:t>6 / 28</a:t>
            </a:r>
            <a:endParaRPr lang="en-US" sz="800" dirty="0"/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34002AA7-4200-0F3A-1FBC-58A10207D13C}"/>
              </a:ext>
            </a:extLst>
          </p:cNvPr>
          <p:cNvSpPr/>
          <p:nvPr/>
        </p:nvSpPr>
        <p:spPr>
          <a:xfrm>
            <a:off x="7620" y="0"/>
            <a:ext cx="9144000" cy="73152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65760" y="696468"/>
            <a:ext cx="1463040" cy="20116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223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PREVENTION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🛡️  Stay Protected: 6 Key Tips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2633472" cy="1627632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5214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15214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Enable MFA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1700784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Even if your password is stolen, MFA blocks attackers.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00400" y="987552"/>
            <a:ext cx="2633472" cy="1627632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15214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0" y="115214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6FF"/>
                </a:solidFill>
              </a:rPr>
              <a:t>Verify the Sender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700784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Check email headers. Call the person directly if in doubt.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035040" y="987552"/>
            <a:ext cx="2633472" cy="1627632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15214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75120" y="115214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</a:rPr>
              <a:t>Avoid Suspicious Links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172200" y="1700784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Hover before clicking. Navigate to sites directly.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365760" y="2816352"/>
            <a:ext cx="2633472" cy="1627632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2980944"/>
            <a:ext cx="438912" cy="4389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05840" y="298094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Keep Software Updated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02920" y="3529584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Patches fix vulnerabilities exploited by phishing malware.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3200400" y="2816352"/>
            <a:ext cx="2633472" cy="1627632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2980944"/>
            <a:ext cx="438912" cy="4389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840480" y="298094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444"/>
                </a:solidFill>
              </a:rPr>
              <a:t>Report Suspicious Msgs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3337560" y="3529584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Alert IT or use the 'Report Phishing' button.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6035040" y="2816352"/>
            <a:ext cx="2633472" cy="1627632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2980944"/>
            <a:ext cx="438912" cy="43891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675120" y="298094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Use Security Software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6172200" y="3529584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Antivirus + email filters catch most phishing attempts.</a:t>
            </a:r>
            <a:endParaRPr lang="en-US" sz="1400" dirty="0"/>
          </a:p>
        </p:txBody>
      </p:sp>
      <p:sp>
        <p:nvSpPr>
          <p:cNvPr id="30" name="Shape 22">
            <a:hlinkClick r:id="rId9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1" name="Text 23">
            <a:hlinkClick r:id="rId9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HOME</a:t>
            </a:r>
            <a:endParaRPr lang="en-US" sz="900" dirty="0"/>
          </a:p>
        </p:txBody>
      </p:sp>
      <p:sp>
        <p:nvSpPr>
          <p:cNvPr id="32" name="Shape 24">
            <a:hlinkClick r:id="rId10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3" name="Text 25">
            <a:hlinkClick r:id="rId10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900" dirty="0"/>
          </a:p>
        </p:txBody>
      </p:sp>
      <p:sp>
        <p:nvSpPr>
          <p:cNvPr id="34" name="Shape 26">
            <a:hlinkClick r:id="rId11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5" name="Text 27">
            <a:hlinkClick r:id="rId11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411480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CC0"/>
                </a:solidFill>
              </a:rPr>
              <a:t>7 / 28</a:t>
            </a:r>
            <a:endParaRPr lang="en-US" sz="800" dirty="0"/>
          </a:p>
        </p:txBody>
      </p:sp>
      <p:sp>
        <p:nvSpPr>
          <p:cNvPr id="40" name="Shape 0">
            <a:extLst>
              <a:ext uri="{FF2B5EF4-FFF2-40B4-BE49-F238E27FC236}">
                <a16:creationId xmlns:a16="http://schemas.microsoft.com/office/drawing/2014/main" id="{1BF4DF92-E1B3-B3DC-CD92-527978DF3BEC}"/>
              </a:ext>
            </a:extLst>
          </p:cNvPr>
          <p:cNvSpPr/>
          <p:nvPr/>
        </p:nvSpPr>
        <p:spPr>
          <a:xfrm>
            <a:off x="7620" y="0"/>
            <a:ext cx="9144000" cy="73152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65760" y="621792"/>
            <a:ext cx="1463040" cy="20116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37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REAL-WORLD EXAMPLES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9080" y="9753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Phishing Case Studies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743200" cy="374904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2743200" cy="54864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24128"/>
            <a:ext cx="822960" cy="320040"/>
          </a:xfrm>
          <a:prstGeom prst="rect">
            <a:avLst/>
          </a:prstGeom>
          <a:solidFill>
            <a:srgbClr val="1E325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2412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4444"/>
                </a:solidFill>
              </a:rPr>
              <a:t>2016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Democratic National Committee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029968"/>
            <a:ext cx="2514600" cy="29260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299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LOSS: $1B+ in data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2514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Spear phishing email tricked a staffer into entering credentials on a fake Google login page, enabling a massive data breach that dominated global headlines.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91840" y="914400"/>
            <a:ext cx="2743200" cy="374904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914400"/>
            <a:ext cx="2743200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1024128"/>
            <a:ext cx="822960" cy="320040"/>
          </a:xfrm>
          <a:prstGeom prst="rect">
            <a:avLst/>
          </a:prstGeom>
          <a:solidFill>
            <a:srgbClr val="1E3250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02412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703"/>
                </a:solidFill>
              </a:rPr>
              <a:t>2020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83280" y="14630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Twitter (Now X)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83280" y="2029968"/>
            <a:ext cx="2514600" cy="29260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0299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LOSS: 130 accounts hijacked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2423160"/>
            <a:ext cx="2514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Attackers voice-phished Twitter employees posing as IT staff to steal internal credentials and hijack high-profile accounts including Elon Musk and Barack Obama.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17920" y="914400"/>
            <a:ext cx="2743200" cy="374904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914400"/>
            <a:ext cx="27432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1024128"/>
            <a:ext cx="822960" cy="320040"/>
          </a:xfrm>
          <a:prstGeom prst="rect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02412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</a:rPr>
              <a:t>2021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09360" y="14630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Ubiquiti Networks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09360" y="2029968"/>
            <a:ext cx="251460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20299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LOSS: $46.7 Million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2423160"/>
            <a:ext cx="2514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A Business Email Compromise attack tricked an employee into transferring funds to attacker-controlled accounts by impersonating an external vendor.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5760" y="46360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9CC0"/>
                </a:solidFill>
              </a:rPr>
              <a:t>Key Lesson: Anyone can be targeted. Verification is always worth the extra minute.</a:t>
            </a:r>
            <a:endParaRPr lang="en-US" sz="1000" dirty="0"/>
          </a:p>
        </p:txBody>
      </p:sp>
      <p:sp>
        <p:nvSpPr>
          <p:cNvPr id="31" name="Shape 29">
            <a:hlinkClick r:id="rId3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2" name="Text 30">
            <a:hlinkClick r:id="rId3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HOME</a:t>
            </a:r>
            <a:endParaRPr lang="en-US" sz="900" dirty="0"/>
          </a:p>
        </p:txBody>
      </p:sp>
      <p:sp>
        <p:nvSpPr>
          <p:cNvPr id="33" name="Shape 31">
            <a:hlinkClick r:id="rId4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4" name="Text 32">
            <a:hlinkClick r:id="rId4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900" dirty="0"/>
          </a:p>
        </p:txBody>
      </p:sp>
      <p:sp>
        <p:nvSpPr>
          <p:cNvPr id="35" name="Shape 33">
            <a:hlinkClick r:id="rId5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6" name="Text 34">
            <a:hlinkClick r:id="rId5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CC0"/>
                </a:solidFill>
              </a:rPr>
              <a:t>8 / 28</a:t>
            </a:r>
            <a:endParaRPr lang="en-US" sz="800" dirty="0"/>
          </a:p>
        </p:txBody>
      </p:sp>
      <p:sp>
        <p:nvSpPr>
          <p:cNvPr id="39" name="Shape 0">
            <a:extLst>
              <a:ext uri="{FF2B5EF4-FFF2-40B4-BE49-F238E27FC236}">
                <a16:creationId xmlns:a16="http://schemas.microsoft.com/office/drawing/2014/main" id="{81EC24DF-B3A0-1EA0-69FB-0E3B25B46E5B}"/>
              </a:ext>
            </a:extLst>
          </p:cNvPr>
          <p:cNvSpPr/>
          <p:nvPr/>
        </p:nvSpPr>
        <p:spPr>
          <a:xfrm>
            <a:off x="7620" y="0"/>
            <a:ext cx="9144000" cy="73152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65760" y="658368"/>
            <a:ext cx="1463040" cy="20116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7660" y="6507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EXAMPLE EMAIL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325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Anatomy of a Phishing Email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5577840" cy="3794760"/>
          </a:xfrm>
          <a:prstGeom prst="rect">
            <a:avLst/>
          </a:prstGeom>
          <a:solidFill>
            <a:srgbClr val="1E3250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5577840" cy="384048"/>
          </a:xfrm>
          <a:prstGeom prst="rect">
            <a:avLst/>
          </a:prstGeom>
          <a:solidFill>
            <a:srgbClr val="1E3250"/>
          </a:solidFill>
          <a:ln w="6350">
            <a:solidFill>
              <a:srgbClr val="00C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50976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📧  Inbox — Suspicious Message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38988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9CC0"/>
                </a:solidFill>
              </a:rPr>
              <a:t>FROM: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98448" y="138988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444"/>
                </a:solidFill>
              </a:rPr>
              <a:t>support@paypa1-secure.com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68249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9CC0"/>
                </a:solidFill>
              </a:rPr>
              <a:t>TO: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98448" y="168249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you@yourmail.com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197510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9CC0"/>
                </a:solidFill>
              </a:rPr>
              <a:t>SUBJECT: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98448" y="197510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444"/>
                </a:solidFill>
              </a:rPr>
              <a:t>⚠️ Urgent: Your Account Has Been Suspended!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5577840" cy="7315"/>
          </a:xfrm>
          <a:prstGeom prst="rect">
            <a:avLst/>
          </a:prstGeom>
          <a:solidFill>
            <a:srgbClr val="7A9CC0"/>
          </a:solidFill>
          <a:ln w="12700">
            <a:solidFill>
              <a:srgbClr val="7A9C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359151"/>
            <a:ext cx="5349240" cy="23061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detected unusual activity on your PayPal account. Your account has been temporarily limited.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restore full access, please verify your information immediately: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Click Here to Verify Your Account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to verify within 24 hours will result in permanent account suspension.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Security Team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914400"/>
            <a:ext cx="2971800" cy="379476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72200" y="98755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4444"/>
                </a:solidFill>
              </a:rPr>
              <a:t>🔍  Red Flags Identified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2200" y="141732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B703"/>
                </a:solidFill>
              </a:rPr>
              <a:t>1. Misspelled domain (paypa1 ≠ paypal)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198424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B703"/>
                </a:solidFill>
              </a:rPr>
              <a:t>2. Alarming subject line creates fear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255117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B703"/>
                </a:solidFill>
              </a:rPr>
              <a:t>3. Vague greeting — no real name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311810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B703"/>
                </a:solidFill>
              </a:rPr>
              <a:t>4. Artificial urgency: 24-hour threat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368503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B703"/>
                </a:solidFill>
              </a:rPr>
              <a:t>5. Suspicious link with unclear URL</a:t>
            </a:r>
            <a:endParaRPr lang="en-US" sz="1200" dirty="0"/>
          </a:p>
        </p:txBody>
      </p:sp>
      <p:sp>
        <p:nvSpPr>
          <p:cNvPr id="24" name="Shape 22">
            <a:hlinkClick r:id="rId3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5" name="Text 23">
            <a:hlinkClick r:id="rId3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HOME</a:t>
            </a:r>
            <a:endParaRPr lang="en-US" sz="900" dirty="0"/>
          </a:p>
        </p:txBody>
      </p:sp>
      <p:sp>
        <p:nvSpPr>
          <p:cNvPr id="26" name="Shape 24">
            <a:hlinkClick r:id="rId4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7" name="Text 25">
            <a:hlinkClick r:id="rId4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900" dirty="0"/>
          </a:p>
        </p:txBody>
      </p:sp>
      <p:sp>
        <p:nvSpPr>
          <p:cNvPr id="28" name="Shape 26">
            <a:hlinkClick r:id="rId5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9" name="Text 27">
            <a:hlinkClick r:id="rId5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CC0"/>
                </a:solidFill>
              </a:rPr>
              <a:t>9 / 28</a:t>
            </a:r>
            <a:endParaRPr lang="en-US" sz="800" dirty="0"/>
          </a:p>
        </p:txBody>
      </p:sp>
      <p:sp>
        <p:nvSpPr>
          <p:cNvPr id="32" name="Shape 0">
            <a:extLst>
              <a:ext uri="{FF2B5EF4-FFF2-40B4-BE49-F238E27FC236}">
                <a16:creationId xmlns:a16="http://schemas.microsoft.com/office/drawing/2014/main" id="{E6651F81-6C5B-A07D-E742-A5CA136CC53D}"/>
              </a:ext>
            </a:extLst>
          </p:cNvPr>
          <p:cNvSpPr/>
          <p:nvPr/>
        </p:nvSpPr>
        <p:spPr>
          <a:xfrm>
            <a:off x="7620" y="0"/>
            <a:ext cx="9144000" cy="73152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557784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82296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KNOWLEDGE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 QUIZ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8229600" cy="960120"/>
          </a:xfrm>
          <a:prstGeom prst="rect">
            <a:avLst/>
          </a:prstGeom>
          <a:solidFill>
            <a:srgbClr val="1E3250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" y="2395728"/>
            <a:ext cx="7955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You have completed all 8 training modules! Now test what you have learned.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Each question shows 4 options — click your chosen answer, then see the result on the next slide.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493008"/>
            <a:ext cx="2606040" cy="82296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349300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5CF6"/>
                </a:solidFill>
              </a:rPr>
              <a:t>8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57200" y="3886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CC0"/>
                </a:solidFill>
              </a:rPr>
              <a:t>Questions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3493008"/>
            <a:ext cx="2606040" cy="82296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91840" y="349300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5CF6"/>
                </a:solidFill>
              </a:rPr>
              <a:t>1 pt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291840" y="3886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CC0"/>
                </a:solidFill>
              </a:rPr>
              <a:t>Per Correct Answer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26480" y="3493008"/>
            <a:ext cx="2606040" cy="82296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349300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5CF6"/>
                </a:solidFill>
              </a:rPr>
              <a:t>6/8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126480" y="3886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CC0"/>
                </a:solidFill>
              </a:rPr>
              <a:t>Pass Score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9CC0"/>
                </a:solidFill>
              </a:rPr>
              <a:t>Click NEXT to start the quiz →</a:t>
            </a:r>
            <a:endParaRPr lang="en-US" sz="1200" dirty="0"/>
          </a:p>
        </p:txBody>
      </p:sp>
      <p:sp>
        <p:nvSpPr>
          <p:cNvPr id="18" name="Shape 15">
            <a:hlinkClick r:id="rId4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9" name="Text 16">
            <a:hlinkClick r:id="rId4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HOME</a:t>
            </a:r>
            <a:endParaRPr lang="en-US" sz="900" dirty="0"/>
          </a:p>
        </p:txBody>
      </p:sp>
      <p:sp>
        <p:nvSpPr>
          <p:cNvPr id="20" name="Shape 17">
            <a:hlinkClick r:id="rId5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1" name="Text 18">
            <a:hlinkClick r:id="rId5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900" dirty="0"/>
          </a:p>
        </p:txBody>
      </p:sp>
      <p:sp>
        <p:nvSpPr>
          <p:cNvPr id="22" name="Shape 19">
            <a:hlinkClick r:id="rId6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3" name="Text 20">
            <a:hlinkClick r:id="rId6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11480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CC0"/>
                </a:solidFill>
              </a:rPr>
              <a:t>10 / 28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28016"/>
            <a:ext cx="8412480" cy="50292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2801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QUIZ  —  Question 1 of 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274320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60336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61504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65008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6176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749808"/>
            <a:ext cx="8412480" cy="749808"/>
          </a:xfrm>
          <a:prstGeom prst="rect">
            <a:avLst/>
          </a:prstGeom>
          <a:solidFill>
            <a:srgbClr val="1E3250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777240"/>
            <a:ext cx="8138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Q1.  Which of the following is the BEST indicator of a phishing email?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5760" y="15727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A9CC0"/>
                </a:solidFill>
              </a:rPr>
              <a:t>👆  Click the answer you think is correct to reveal the result</a:t>
            </a:r>
            <a:endParaRPr lang="en-US" sz="1050" dirty="0"/>
          </a:p>
        </p:txBody>
      </p:sp>
      <p:sp>
        <p:nvSpPr>
          <p:cNvPr id="16" name="Shape 14">
            <a:hlinkClick r:id="rId3" action="ppaction://hlinksldjump"/>
          </p:cNvPr>
          <p:cNvSpPr/>
          <p:nvPr/>
        </p:nvSpPr>
        <p:spPr>
          <a:xfrm>
            <a:off x="365760" y="192024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00C6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066544"/>
            <a:ext cx="292608" cy="292608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8" name="Text 16">
            <a:hlinkClick r:id="rId3" action="ppaction://hlinksldjump"/>
          </p:cNvPr>
          <p:cNvSpPr/>
          <p:nvPr/>
        </p:nvSpPr>
        <p:spPr>
          <a:xfrm>
            <a:off x="530352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1100" dirty="0"/>
          </a:p>
        </p:txBody>
      </p:sp>
      <p:sp>
        <p:nvSpPr>
          <p:cNvPr id="19" name="Text 17">
            <a:hlinkClick r:id="rId3" action="ppaction://hlinksldjump"/>
          </p:cNvPr>
          <p:cNvSpPr/>
          <p:nvPr/>
        </p:nvSpPr>
        <p:spPr>
          <a:xfrm>
            <a:off x="941832" y="1984248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A)  The email contains your full name</a:t>
            </a:r>
            <a:endParaRPr lang="en-US" sz="1250" dirty="0"/>
          </a:p>
        </p:txBody>
      </p:sp>
      <p:sp>
        <p:nvSpPr>
          <p:cNvPr id="20" name="Shape 18">
            <a:hlinkClick r:id="rId3" action="ppaction://hlinksldjump"/>
          </p:cNvPr>
          <p:cNvSpPr/>
          <p:nvPr/>
        </p:nvSpPr>
        <p:spPr>
          <a:xfrm>
            <a:off x="365760" y="2624328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06D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770632"/>
            <a:ext cx="292608" cy="2926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>
            <a:hlinkClick r:id="rId3" action="ppaction://hlinksldjump"/>
          </p:cNvPr>
          <p:cNvSpPr/>
          <p:nvPr/>
        </p:nvSpPr>
        <p:spPr>
          <a:xfrm>
            <a:off x="530352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1100" dirty="0"/>
          </a:p>
        </p:txBody>
      </p:sp>
      <p:sp>
        <p:nvSpPr>
          <p:cNvPr id="23" name="Text 21">
            <a:hlinkClick r:id="rId3" action="ppaction://hlinksldjump"/>
          </p:cNvPr>
          <p:cNvSpPr/>
          <p:nvPr/>
        </p:nvSpPr>
        <p:spPr>
          <a:xfrm>
            <a:off x="941832" y="2688336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B)  The sender's domain is slightly misspelled (e.g. paypa1.com)</a:t>
            </a:r>
            <a:endParaRPr lang="en-US" sz="1250" dirty="0"/>
          </a:p>
        </p:txBody>
      </p:sp>
      <p:sp>
        <p:nvSpPr>
          <p:cNvPr id="24" name="Shape 22">
            <a:hlinkClick r:id="rId3" action="ppaction://hlinksldjump"/>
          </p:cNvPr>
          <p:cNvSpPr/>
          <p:nvPr/>
        </p:nvSpPr>
        <p:spPr>
          <a:xfrm>
            <a:off x="365760" y="3328416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FFB70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3474720"/>
            <a:ext cx="292608" cy="29260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6" name="Text 24">
            <a:hlinkClick r:id="rId3" action="ppaction://hlinksldjump"/>
          </p:cNvPr>
          <p:cNvSpPr/>
          <p:nvPr/>
        </p:nvSpPr>
        <p:spPr>
          <a:xfrm>
            <a:off x="530352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1100" dirty="0"/>
          </a:p>
        </p:txBody>
      </p:sp>
      <p:sp>
        <p:nvSpPr>
          <p:cNvPr id="27" name="Text 25">
            <a:hlinkClick r:id="rId3" action="ppaction://hlinksldjump"/>
          </p:cNvPr>
          <p:cNvSpPr/>
          <p:nvPr/>
        </p:nvSpPr>
        <p:spPr>
          <a:xfrm>
            <a:off x="941832" y="339242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C)  The email was sent during business hours</a:t>
            </a:r>
            <a:endParaRPr lang="en-US" sz="1250" dirty="0"/>
          </a:p>
        </p:txBody>
      </p:sp>
      <p:sp>
        <p:nvSpPr>
          <p:cNvPr id="28" name="Shape 26">
            <a:hlinkClick r:id="rId3" action="ppaction://hlinksldjump"/>
          </p:cNvPr>
          <p:cNvSpPr/>
          <p:nvPr/>
        </p:nvSpPr>
        <p:spPr>
          <a:xfrm>
            <a:off x="365760" y="4032504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4178808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>
            <a:hlinkClick r:id="rId3" action="ppaction://hlinksldjump"/>
          </p:cNvPr>
          <p:cNvSpPr/>
          <p:nvPr/>
        </p:nvSpPr>
        <p:spPr>
          <a:xfrm>
            <a:off x="53035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1100" dirty="0"/>
          </a:p>
        </p:txBody>
      </p:sp>
      <p:sp>
        <p:nvSpPr>
          <p:cNvPr id="31" name="Text 29">
            <a:hlinkClick r:id="rId3" action="ppaction://hlinksldjump"/>
          </p:cNvPr>
          <p:cNvSpPr/>
          <p:nvPr/>
        </p:nvSpPr>
        <p:spPr>
          <a:xfrm>
            <a:off x="941832" y="409651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D)  The email includes a company logo</a:t>
            </a:r>
            <a:endParaRPr lang="en-US" sz="1250" dirty="0"/>
          </a:p>
        </p:txBody>
      </p:sp>
      <p:sp>
        <p:nvSpPr>
          <p:cNvPr id="32" name="Shape 30">
            <a:hlinkClick r:id="rId4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3" name="Text 31">
            <a:hlinkClick r:id="rId4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HOME</a:t>
            </a:r>
            <a:endParaRPr lang="en-US" sz="900" dirty="0"/>
          </a:p>
        </p:txBody>
      </p:sp>
      <p:sp>
        <p:nvSpPr>
          <p:cNvPr id="34" name="Shape 32">
            <a:hlinkClick r:id="rId5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5" name="Text 33">
            <a:hlinkClick r:id="rId5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900" dirty="0"/>
          </a:p>
        </p:txBody>
      </p:sp>
      <p:sp>
        <p:nvSpPr>
          <p:cNvPr id="36" name="Shape 34">
            <a:hlinkClick r:id="rId3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7" name="Text 35">
            <a:hlinkClick r:id="rId3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CC0"/>
                </a:solidFill>
              </a:rPr>
              <a:t>11 / 28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28016"/>
            <a:ext cx="8412480" cy="50292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2801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QUIZ  —  Question 2 of 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74320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60336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61504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65008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6176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749808"/>
            <a:ext cx="8412480" cy="749808"/>
          </a:xfrm>
          <a:prstGeom prst="rect">
            <a:avLst/>
          </a:prstGeom>
          <a:solidFill>
            <a:srgbClr val="1E3250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777240"/>
            <a:ext cx="8138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Q2.  What does 'Spear Phishing' mean?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5760" y="15727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A9CC0"/>
                </a:solidFill>
              </a:rPr>
              <a:t>👆  Click the answer you think is correct to reveal the result</a:t>
            </a:r>
            <a:endParaRPr lang="en-US" sz="1050" dirty="0"/>
          </a:p>
        </p:txBody>
      </p:sp>
      <p:sp>
        <p:nvSpPr>
          <p:cNvPr id="16" name="Shape 14">
            <a:hlinkClick r:id="rId3" action="ppaction://hlinksldjump"/>
          </p:cNvPr>
          <p:cNvSpPr/>
          <p:nvPr/>
        </p:nvSpPr>
        <p:spPr>
          <a:xfrm>
            <a:off x="365760" y="192024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00C6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066544"/>
            <a:ext cx="292608" cy="292608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8" name="Text 16">
            <a:hlinkClick r:id="rId3" action="ppaction://hlinksldjump"/>
          </p:cNvPr>
          <p:cNvSpPr/>
          <p:nvPr/>
        </p:nvSpPr>
        <p:spPr>
          <a:xfrm>
            <a:off x="530352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1100" dirty="0"/>
          </a:p>
        </p:txBody>
      </p:sp>
      <p:sp>
        <p:nvSpPr>
          <p:cNvPr id="19" name="Text 17">
            <a:hlinkClick r:id="rId3" action="ppaction://hlinksldjump"/>
          </p:cNvPr>
          <p:cNvSpPr/>
          <p:nvPr/>
        </p:nvSpPr>
        <p:spPr>
          <a:xfrm>
            <a:off x="941832" y="1984248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A)  Phishing attacks that use SMS messages</a:t>
            </a:r>
            <a:endParaRPr lang="en-US" sz="1250" dirty="0"/>
          </a:p>
        </p:txBody>
      </p:sp>
      <p:sp>
        <p:nvSpPr>
          <p:cNvPr id="20" name="Shape 18">
            <a:hlinkClick r:id="rId3" action="ppaction://hlinksldjump"/>
          </p:cNvPr>
          <p:cNvSpPr/>
          <p:nvPr/>
        </p:nvSpPr>
        <p:spPr>
          <a:xfrm>
            <a:off x="365760" y="2624328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06D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770632"/>
            <a:ext cx="292608" cy="2926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>
            <a:hlinkClick r:id="rId3" action="ppaction://hlinksldjump"/>
          </p:cNvPr>
          <p:cNvSpPr/>
          <p:nvPr/>
        </p:nvSpPr>
        <p:spPr>
          <a:xfrm>
            <a:off x="530352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1100" dirty="0"/>
          </a:p>
        </p:txBody>
      </p:sp>
      <p:sp>
        <p:nvSpPr>
          <p:cNvPr id="23" name="Text 21">
            <a:hlinkClick r:id="rId3" action="ppaction://hlinksldjump"/>
          </p:cNvPr>
          <p:cNvSpPr/>
          <p:nvPr/>
        </p:nvSpPr>
        <p:spPr>
          <a:xfrm>
            <a:off x="941832" y="2688336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B)  Phishing attacks carried out via phone calls</a:t>
            </a:r>
            <a:endParaRPr lang="en-US" sz="1250" dirty="0"/>
          </a:p>
        </p:txBody>
      </p:sp>
      <p:sp>
        <p:nvSpPr>
          <p:cNvPr id="24" name="Shape 22">
            <a:hlinkClick r:id="rId3" action="ppaction://hlinksldjump"/>
          </p:cNvPr>
          <p:cNvSpPr/>
          <p:nvPr/>
        </p:nvSpPr>
        <p:spPr>
          <a:xfrm>
            <a:off x="365760" y="3328416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FFB70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3474720"/>
            <a:ext cx="292608" cy="29260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6" name="Text 24">
            <a:hlinkClick r:id="rId3" action="ppaction://hlinksldjump"/>
          </p:cNvPr>
          <p:cNvSpPr/>
          <p:nvPr/>
        </p:nvSpPr>
        <p:spPr>
          <a:xfrm>
            <a:off x="530352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1100" dirty="0"/>
          </a:p>
        </p:txBody>
      </p:sp>
      <p:sp>
        <p:nvSpPr>
          <p:cNvPr id="27" name="Text 25">
            <a:hlinkClick r:id="rId3" action="ppaction://hlinksldjump"/>
          </p:cNvPr>
          <p:cNvSpPr/>
          <p:nvPr/>
        </p:nvSpPr>
        <p:spPr>
          <a:xfrm>
            <a:off x="941832" y="339242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C)  Targeted phishing using personal details about the victim</a:t>
            </a:r>
            <a:endParaRPr lang="en-US" sz="1250" dirty="0"/>
          </a:p>
        </p:txBody>
      </p:sp>
      <p:sp>
        <p:nvSpPr>
          <p:cNvPr id="28" name="Shape 26">
            <a:hlinkClick r:id="rId3" action="ppaction://hlinksldjump"/>
          </p:cNvPr>
          <p:cNvSpPr/>
          <p:nvPr/>
        </p:nvSpPr>
        <p:spPr>
          <a:xfrm>
            <a:off x="365760" y="4032504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4178808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>
            <a:hlinkClick r:id="rId3" action="ppaction://hlinksldjump"/>
          </p:cNvPr>
          <p:cNvSpPr/>
          <p:nvPr/>
        </p:nvSpPr>
        <p:spPr>
          <a:xfrm>
            <a:off x="53035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1100" dirty="0"/>
          </a:p>
        </p:txBody>
      </p:sp>
      <p:sp>
        <p:nvSpPr>
          <p:cNvPr id="31" name="Text 29">
            <a:hlinkClick r:id="rId3" action="ppaction://hlinksldjump"/>
          </p:cNvPr>
          <p:cNvSpPr/>
          <p:nvPr/>
        </p:nvSpPr>
        <p:spPr>
          <a:xfrm>
            <a:off x="941832" y="409651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D)  Phishing attacks aimed at random users</a:t>
            </a:r>
            <a:endParaRPr lang="en-US" sz="1250" dirty="0"/>
          </a:p>
        </p:txBody>
      </p:sp>
      <p:sp>
        <p:nvSpPr>
          <p:cNvPr id="32" name="Shape 30">
            <a:hlinkClick r:id="rId4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3" name="Text 31">
            <a:hlinkClick r:id="rId4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HOME</a:t>
            </a:r>
            <a:endParaRPr lang="en-US" sz="900" dirty="0"/>
          </a:p>
        </p:txBody>
      </p:sp>
      <p:sp>
        <p:nvSpPr>
          <p:cNvPr id="34" name="Shape 32">
            <a:hlinkClick r:id="rId5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5" name="Text 33">
            <a:hlinkClick r:id="rId5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900" dirty="0"/>
          </a:p>
        </p:txBody>
      </p:sp>
      <p:sp>
        <p:nvSpPr>
          <p:cNvPr id="36" name="Shape 34">
            <a:hlinkClick r:id="rId3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7" name="Text 35">
            <a:hlinkClick r:id="rId3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CC0"/>
                </a:solidFill>
              </a:rPr>
              <a:t>12 / 28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28016"/>
            <a:ext cx="8412480" cy="50292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2801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QUIZ  —  Question 3 of 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60336" y="274320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61504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65008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6176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749808"/>
            <a:ext cx="8412480" cy="749808"/>
          </a:xfrm>
          <a:prstGeom prst="rect">
            <a:avLst/>
          </a:prstGeom>
          <a:solidFill>
            <a:srgbClr val="1E3250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777240"/>
            <a:ext cx="8138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Q3.  You receive a text: 'Your bank account is locked. Click here immediately.' What do you do?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5760" y="15727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A9CC0"/>
                </a:solidFill>
              </a:rPr>
              <a:t>👆  Click the answer you think is correct to reveal the result</a:t>
            </a:r>
            <a:endParaRPr lang="en-US" sz="1050" dirty="0"/>
          </a:p>
        </p:txBody>
      </p:sp>
      <p:sp>
        <p:nvSpPr>
          <p:cNvPr id="16" name="Shape 14">
            <a:hlinkClick r:id="rId3" action="ppaction://hlinksldjump"/>
          </p:cNvPr>
          <p:cNvSpPr/>
          <p:nvPr/>
        </p:nvSpPr>
        <p:spPr>
          <a:xfrm>
            <a:off x="365760" y="192024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00C6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066544"/>
            <a:ext cx="292608" cy="292608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8" name="Text 16">
            <a:hlinkClick r:id="rId3" action="ppaction://hlinksldjump"/>
          </p:cNvPr>
          <p:cNvSpPr/>
          <p:nvPr/>
        </p:nvSpPr>
        <p:spPr>
          <a:xfrm>
            <a:off x="530352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1100" dirty="0"/>
          </a:p>
        </p:txBody>
      </p:sp>
      <p:sp>
        <p:nvSpPr>
          <p:cNvPr id="19" name="Text 17">
            <a:hlinkClick r:id="rId3" action="ppaction://hlinksldjump"/>
          </p:cNvPr>
          <p:cNvSpPr/>
          <p:nvPr/>
        </p:nvSpPr>
        <p:spPr>
          <a:xfrm>
            <a:off x="941832" y="1984248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A)  Click the link and log in to fix the problem</a:t>
            </a:r>
            <a:endParaRPr lang="en-US" sz="1250" dirty="0"/>
          </a:p>
        </p:txBody>
      </p:sp>
      <p:sp>
        <p:nvSpPr>
          <p:cNvPr id="20" name="Shape 18">
            <a:hlinkClick r:id="rId3" action="ppaction://hlinksldjump"/>
          </p:cNvPr>
          <p:cNvSpPr/>
          <p:nvPr/>
        </p:nvSpPr>
        <p:spPr>
          <a:xfrm>
            <a:off x="365760" y="2624328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06D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770632"/>
            <a:ext cx="292608" cy="2926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>
            <a:hlinkClick r:id="rId3" action="ppaction://hlinksldjump"/>
          </p:cNvPr>
          <p:cNvSpPr/>
          <p:nvPr/>
        </p:nvSpPr>
        <p:spPr>
          <a:xfrm>
            <a:off x="530352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1100" dirty="0"/>
          </a:p>
        </p:txBody>
      </p:sp>
      <p:sp>
        <p:nvSpPr>
          <p:cNvPr id="23" name="Text 21">
            <a:hlinkClick r:id="rId3" action="ppaction://hlinksldjump"/>
          </p:cNvPr>
          <p:cNvSpPr/>
          <p:nvPr/>
        </p:nvSpPr>
        <p:spPr>
          <a:xfrm>
            <a:off x="941832" y="2688336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B)  Reply with your account number to verify your identity</a:t>
            </a:r>
            <a:endParaRPr lang="en-US" sz="1250" dirty="0"/>
          </a:p>
        </p:txBody>
      </p:sp>
      <p:sp>
        <p:nvSpPr>
          <p:cNvPr id="24" name="Shape 22">
            <a:hlinkClick r:id="rId3" action="ppaction://hlinksldjump"/>
          </p:cNvPr>
          <p:cNvSpPr/>
          <p:nvPr/>
        </p:nvSpPr>
        <p:spPr>
          <a:xfrm>
            <a:off x="365760" y="3328416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FFB70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3474720"/>
            <a:ext cx="292608" cy="29260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6" name="Text 24">
            <a:hlinkClick r:id="rId3" action="ppaction://hlinksldjump"/>
          </p:cNvPr>
          <p:cNvSpPr/>
          <p:nvPr/>
        </p:nvSpPr>
        <p:spPr>
          <a:xfrm>
            <a:off x="530352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1100" dirty="0"/>
          </a:p>
        </p:txBody>
      </p:sp>
      <p:sp>
        <p:nvSpPr>
          <p:cNvPr id="27" name="Text 25">
            <a:hlinkClick r:id="rId3" action="ppaction://hlinksldjump"/>
          </p:cNvPr>
          <p:cNvSpPr/>
          <p:nvPr/>
        </p:nvSpPr>
        <p:spPr>
          <a:xfrm>
            <a:off x="941832" y="339242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C)  Ignore it — it is probably spam</a:t>
            </a:r>
            <a:endParaRPr lang="en-US" sz="1250" dirty="0"/>
          </a:p>
        </p:txBody>
      </p:sp>
      <p:sp>
        <p:nvSpPr>
          <p:cNvPr id="28" name="Shape 26">
            <a:hlinkClick r:id="rId3" action="ppaction://hlinksldjump"/>
          </p:cNvPr>
          <p:cNvSpPr/>
          <p:nvPr/>
        </p:nvSpPr>
        <p:spPr>
          <a:xfrm>
            <a:off x="365760" y="4032504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4178808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>
            <a:hlinkClick r:id="rId3" action="ppaction://hlinksldjump"/>
          </p:cNvPr>
          <p:cNvSpPr/>
          <p:nvPr/>
        </p:nvSpPr>
        <p:spPr>
          <a:xfrm>
            <a:off x="53035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1100" dirty="0"/>
          </a:p>
        </p:txBody>
      </p:sp>
      <p:sp>
        <p:nvSpPr>
          <p:cNvPr id="31" name="Text 29">
            <a:hlinkClick r:id="rId3" action="ppaction://hlinksldjump"/>
          </p:cNvPr>
          <p:cNvSpPr/>
          <p:nvPr/>
        </p:nvSpPr>
        <p:spPr>
          <a:xfrm>
            <a:off x="941832" y="409651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D)  Call your bank directly using the number on their official website</a:t>
            </a:r>
            <a:endParaRPr lang="en-US" sz="1250" dirty="0"/>
          </a:p>
        </p:txBody>
      </p:sp>
      <p:sp>
        <p:nvSpPr>
          <p:cNvPr id="32" name="Shape 30">
            <a:hlinkClick r:id="rId4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3" name="Text 31">
            <a:hlinkClick r:id="rId4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HOME</a:t>
            </a:r>
            <a:endParaRPr lang="en-US" sz="900" dirty="0"/>
          </a:p>
        </p:txBody>
      </p:sp>
      <p:sp>
        <p:nvSpPr>
          <p:cNvPr id="34" name="Shape 32">
            <a:hlinkClick r:id="rId5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5" name="Text 33">
            <a:hlinkClick r:id="rId5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900" dirty="0"/>
          </a:p>
        </p:txBody>
      </p:sp>
      <p:sp>
        <p:nvSpPr>
          <p:cNvPr id="36" name="Shape 34">
            <a:hlinkClick r:id="rId3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7" name="Text 35">
            <a:hlinkClick r:id="rId3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CC0"/>
                </a:solidFill>
              </a:rPr>
              <a:t>13 / 28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28016"/>
            <a:ext cx="8412480" cy="50292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2801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QUIZ  —  Question 4 of 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60336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61504" y="274320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65008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6176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749808"/>
            <a:ext cx="8412480" cy="749808"/>
          </a:xfrm>
          <a:prstGeom prst="rect">
            <a:avLst/>
          </a:prstGeom>
          <a:solidFill>
            <a:srgbClr val="1E3250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777240"/>
            <a:ext cx="8138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Q4.  A website has HTTPS and a padlock icon. Is it definitely safe?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5760" y="15727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A9CC0"/>
                </a:solidFill>
              </a:rPr>
              <a:t>👆  Click the answer you think is correct to reveal the result</a:t>
            </a:r>
            <a:endParaRPr lang="en-US" sz="1050" dirty="0"/>
          </a:p>
        </p:txBody>
      </p:sp>
      <p:sp>
        <p:nvSpPr>
          <p:cNvPr id="16" name="Shape 14">
            <a:hlinkClick r:id="rId3" action="ppaction://hlinksldjump"/>
          </p:cNvPr>
          <p:cNvSpPr/>
          <p:nvPr/>
        </p:nvSpPr>
        <p:spPr>
          <a:xfrm>
            <a:off x="365760" y="192024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00C6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066544"/>
            <a:ext cx="292608" cy="292608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8" name="Text 16">
            <a:hlinkClick r:id="rId3" action="ppaction://hlinksldjump"/>
          </p:cNvPr>
          <p:cNvSpPr/>
          <p:nvPr/>
        </p:nvSpPr>
        <p:spPr>
          <a:xfrm>
            <a:off x="530352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1100" dirty="0"/>
          </a:p>
        </p:txBody>
      </p:sp>
      <p:sp>
        <p:nvSpPr>
          <p:cNvPr id="19" name="Text 17">
            <a:hlinkClick r:id="rId3" action="ppaction://hlinksldjump"/>
          </p:cNvPr>
          <p:cNvSpPr/>
          <p:nvPr/>
        </p:nvSpPr>
        <p:spPr>
          <a:xfrm>
            <a:off x="941832" y="1984248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A)  Yes — HTTPS means the site is verified and trustworthy</a:t>
            </a:r>
            <a:endParaRPr lang="en-US" sz="1250" dirty="0"/>
          </a:p>
        </p:txBody>
      </p:sp>
      <p:sp>
        <p:nvSpPr>
          <p:cNvPr id="20" name="Shape 18">
            <a:hlinkClick r:id="rId3" action="ppaction://hlinksldjump"/>
          </p:cNvPr>
          <p:cNvSpPr/>
          <p:nvPr/>
        </p:nvSpPr>
        <p:spPr>
          <a:xfrm>
            <a:off x="365760" y="2624328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06D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770632"/>
            <a:ext cx="292608" cy="2926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>
            <a:hlinkClick r:id="rId3" action="ppaction://hlinksldjump"/>
          </p:cNvPr>
          <p:cNvSpPr/>
          <p:nvPr/>
        </p:nvSpPr>
        <p:spPr>
          <a:xfrm>
            <a:off x="530352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1100" dirty="0"/>
          </a:p>
        </p:txBody>
      </p:sp>
      <p:sp>
        <p:nvSpPr>
          <p:cNvPr id="23" name="Text 21">
            <a:hlinkClick r:id="rId3" action="ppaction://hlinksldjump"/>
          </p:cNvPr>
          <p:cNvSpPr/>
          <p:nvPr/>
        </p:nvSpPr>
        <p:spPr>
          <a:xfrm>
            <a:off x="941832" y="2688336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B)  No — HTTPS only encrypts data; it does NOT verify the site is legitimate</a:t>
            </a:r>
            <a:endParaRPr lang="en-US" sz="1250" dirty="0"/>
          </a:p>
        </p:txBody>
      </p:sp>
      <p:sp>
        <p:nvSpPr>
          <p:cNvPr id="24" name="Shape 22">
            <a:hlinkClick r:id="rId3" action="ppaction://hlinksldjump"/>
          </p:cNvPr>
          <p:cNvSpPr/>
          <p:nvPr/>
        </p:nvSpPr>
        <p:spPr>
          <a:xfrm>
            <a:off x="365760" y="3328416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FFB70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3474720"/>
            <a:ext cx="292608" cy="29260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6" name="Text 24">
            <a:hlinkClick r:id="rId3" action="ppaction://hlinksldjump"/>
          </p:cNvPr>
          <p:cNvSpPr/>
          <p:nvPr/>
        </p:nvSpPr>
        <p:spPr>
          <a:xfrm>
            <a:off x="530352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1100" dirty="0"/>
          </a:p>
        </p:txBody>
      </p:sp>
      <p:sp>
        <p:nvSpPr>
          <p:cNvPr id="27" name="Text 25">
            <a:hlinkClick r:id="rId3" action="ppaction://hlinksldjump"/>
          </p:cNvPr>
          <p:cNvSpPr/>
          <p:nvPr/>
        </p:nvSpPr>
        <p:spPr>
          <a:xfrm>
            <a:off x="941832" y="339242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C)  Yes — only real companies can get HTTPS certificates</a:t>
            </a:r>
            <a:endParaRPr lang="en-US" sz="1250" dirty="0"/>
          </a:p>
        </p:txBody>
      </p:sp>
      <p:sp>
        <p:nvSpPr>
          <p:cNvPr id="28" name="Shape 26">
            <a:hlinkClick r:id="rId3" action="ppaction://hlinksldjump"/>
          </p:cNvPr>
          <p:cNvSpPr/>
          <p:nvPr/>
        </p:nvSpPr>
        <p:spPr>
          <a:xfrm>
            <a:off x="365760" y="4032504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4178808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>
            <a:hlinkClick r:id="rId3" action="ppaction://hlinksldjump"/>
          </p:cNvPr>
          <p:cNvSpPr/>
          <p:nvPr/>
        </p:nvSpPr>
        <p:spPr>
          <a:xfrm>
            <a:off x="53035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1100" dirty="0"/>
          </a:p>
        </p:txBody>
      </p:sp>
      <p:sp>
        <p:nvSpPr>
          <p:cNvPr id="31" name="Text 29">
            <a:hlinkClick r:id="rId3" action="ppaction://hlinksldjump"/>
          </p:cNvPr>
          <p:cNvSpPr/>
          <p:nvPr/>
        </p:nvSpPr>
        <p:spPr>
          <a:xfrm>
            <a:off x="941832" y="409651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D)  No — HTTPS sites are always government-only sites</a:t>
            </a:r>
            <a:endParaRPr lang="en-US" sz="1250" dirty="0"/>
          </a:p>
        </p:txBody>
      </p:sp>
      <p:sp>
        <p:nvSpPr>
          <p:cNvPr id="32" name="Shape 30">
            <a:hlinkClick r:id="rId4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3" name="Text 31">
            <a:hlinkClick r:id="rId4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HOME</a:t>
            </a:r>
            <a:endParaRPr lang="en-US" sz="900" dirty="0"/>
          </a:p>
        </p:txBody>
      </p:sp>
      <p:sp>
        <p:nvSpPr>
          <p:cNvPr id="34" name="Shape 32">
            <a:hlinkClick r:id="rId5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5" name="Text 33">
            <a:hlinkClick r:id="rId5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900" dirty="0"/>
          </a:p>
        </p:txBody>
      </p:sp>
      <p:sp>
        <p:nvSpPr>
          <p:cNvPr id="36" name="Shape 34">
            <a:hlinkClick r:id="rId3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7" name="Text 35">
            <a:hlinkClick r:id="rId3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CC0"/>
                </a:solidFill>
              </a:rPr>
              <a:t>14 / 28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28016"/>
            <a:ext cx="8412480" cy="50292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2801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QUIZ  —  Question 5 of 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60336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61504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274320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65008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6176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749808"/>
            <a:ext cx="8412480" cy="749808"/>
          </a:xfrm>
          <a:prstGeom prst="rect">
            <a:avLst/>
          </a:prstGeom>
          <a:solidFill>
            <a:srgbClr val="1E3250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777240"/>
            <a:ext cx="8138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Q5.  What is the main goal of 'Urgency Manipulation' in a phishing attack?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5760" y="15727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A9CC0"/>
                </a:solidFill>
              </a:rPr>
              <a:t>👆  Click the answer you think is correct to reveal the result</a:t>
            </a:r>
            <a:endParaRPr lang="en-US" sz="1050" dirty="0"/>
          </a:p>
        </p:txBody>
      </p:sp>
      <p:sp>
        <p:nvSpPr>
          <p:cNvPr id="16" name="Shape 14">
            <a:hlinkClick r:id="rId3" action="ppaction://hlinksldjump"/>
          </p:cNvPr>
          <p:cNvSpPr/>
          <p:nvPr/>
        </p:nvSpPr>
        <p:spPr>
          <a:xfrm>
            <a:off x="365760" y="192024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00C6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066544"/>
            <a:ext cx="292608" cy="292608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8" name="Text 16">
            <a:hlinkClick r:id="rId3" action="ppaction://hlinksldjump"/>
          </p:cNvPr>
          <p:cNvSpPr/>
          <p:nvPr/>
        </p:nvSpPr>
        <p:spPr>
          <a:xfrm>
            <a:off x="530352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1100" dirty="0"/>
          </a:p>
        </p:txBody>
      </p:sp>
      <p:sp>
        <p:nvSpPr>
          <p:cNvPr id="19" name="Text 17">
            <a:hlinkClick r:id="rId3" action="ppaction://hlinksldjump"/>
          </p:cNvPr>
          <p:cNvSpPr/>
          <p:nvPr/>
        </p:nvSpPr>
        <p:spPr>
          <a:xfrm>
            <a:off x="941832" y="1984248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A)  To make the email look professional</a:t>
            </a:r>
            <a:endParaRPr lang="en-US" sz="1250" dirty="0"/>
          </a:p>
        </p:txBody>
      </p:sp>
      <p:sp>
        <p:nvSpPr>
          <p:cNvPr id="20" name="Shape 18">
            <a:hlinkClick r:id="rId3" action="ppaction://hlinksldjump"/>
          </p:cNvPr>
          <p:cNvSpPr/>
          <p:nvPr/>
        </p:nvSpPr>
        <p:spPr>
          <a:xfrm>
            <a:off x="365760" y="2624328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06D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770632"/>
            <a:ext cx="292608" cy="2926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>
            <a:hlinkClick r:id="rId3" action="ppaction://hlinksldjump"/>
          </p:cNvPr>
          <p:cNvSpPr/>
          <p:nvPr/>
        </p:nvSpPr>
        <p:spPr>
          <a:xfrm>
            <a:off x="530352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1100" dirty="0"/>
          </a:p>
        </p:txBody>
      </p:sp>
      <p:sp>
        <p:nvSpPr>
          <p:cNvPr id="23" name="Text 21">
            <a:hlinkClick r:id="rId3" action="ppaction://hlinksldjump"/>
          </p:cNvPr>
          <p:cNvSpPr/>
          <p:nvPr/>
        </p:nvSpPr>
        <p:spPr>
          <a:xfrm>
            <a:off x="941832" y="2688336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B)  To prevent the victim from thinking clearly and verifying the request</a:t>
            </a:r>
            <a:endParaRPr lang="en-US" sz="1250" dirty="0"/>
          </a:p>
        </p:txBody>
      </p:sp>
      <p:sp>
        <p:nvSpPr>
          <p:cNvPr id="24" name="Shape 22">
            <a:hlinkClick r:id="rId3" action="ppaction://hlinksldjump"/>
          </p:cNvPr>
          <p:cNvSpPr/>
          <p:nvPr/>
        </p:nvSpPr>
        <p:spPr>
          <a:xfrm>
            <a:off x="365760" y="3328416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FFB70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3474720"/>
            <a:ext cx="292608" cy="29260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6" name="Text 24">
            <a:hlinkClick r:id="rId3" action="ppaction://hlinksldjump"/>
          </p:cNvPr>
          <p:cNvSpPr/>
          <p:nvPr/>
        </p:nvSpPr>
        <p:spPr>
          <a:xfrm>
            <a:off x="530352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1100" dirty="0"/>
          </a:p>
        </p:txBody>
      </p:sp>
      <p:sp>
        <p:nvSpPr>
          <p:cNvPr id="27" name="Text 25">
            <a:hlinkClick r:id="rId3" action="ppaction://hlinksldjump"/>
          </p:cNvPr>
          <p:cNvSpPr/>
          <p:nvPr/>
        </p:nvSpPr>
        <p:spPr>
          <a:xfrm>
            <a:off x="941832" y="339242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C)  To bypass spam filters with fast delivery</a:t>
            </a:r>
            <a:endParaRPr lang="en-US" sz="1250" dirty="0"/>
          </a:p>
        </p:txBody>
      </p:sp>
      <p:sp>
        <p:nvSpPr>
          <p:cNvPr id="28" name="Shape 26">
            <a:hlinkClick r:id="rId3" action="ppaction://hlinksldjump"/>
          </p:cNvPr>
          <p:cNvSpPr/>
          <p:nvPr/>
        </p:nvSpPr>
        <p:spPr>
          <a:xfrm>
            <a:off x="365760" y="4032504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4178808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>
            <a:hlinkClick r:id="rId3" action="ppaction://hlinksldjump"/>
          </p:cNvPr>
          <p:cNvSpPr/>
          <p:nvPr/>
        </p:nvSpPr>
        <p:spPr>
          <a:xfrm>
            <a:off x="53035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1100" dirty="0"/>
          </a:p>
        </p:txBody>
      </p:sp>
      <p:sp>
        <p:nvSpPr>
          <p:cNvPr id="31" name="Text 29">
            <a:hlinkClick r:id="rId3" action="ppaction://hlinksldjump"/>
          </p:cNvPr>
          <p:cNvSpPr/>
          <p:nvPr/>
        </p:nvSpPr>
        <p:spPr>
          <a:xfrm>
            <a:off x="941832" y="409651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D)  To attach malware without detection</a:t>
            </a:r>
            <a:endParaRPr lang="en-US" sz="1250" dirty="0"/>
          </a:p>
        </p:txBody>
      </p:sp>
      <p:sp>
        <p:nvSpPr>
          <p:cNvPr id="32" name="Shape 30">
            <a:hlinkClick r:id="rId4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3" name="Text 31">
            <a:hlinkClick r:id="rId4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HOME</a:t>
            </a:r>
            <a:endParaRPr lang="en-US" sz="900" dirty="0"/>
          </a:p>
        </p:txBody>
      </p:sp>
      <p:sp>
        <p:nvSpPr>
          <p:cNvPr id="34" name="Shape 32">
            <a:hlinkClick r:id="rId5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5" name="Text 33">
            <a:hlinkClick r:id="rId5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900" dirty="0"/>
          </a:p>
        </p:txBody>
      </p:sp>
      <p:sp>
        <p:nvSpPr>
          <p:cNvPr id="36" name="Shape 34">
            <a:hlinkClick r:id="rId3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7" name="Text 35">
            <a:hlinkClick r:id="rId3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CC0"/>
                </a:solidFill>
              </a:rPr>
              <a:t>15 / 28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28016"/>
            <a:ext cx="8412480" cy="50292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2801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QUIZ  —  Question 6 of 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60336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61504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274320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65008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6176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749808"/>
            <a:ext cx="8412480" cy="749808"/>
          </a:xfrm>
          <a:prstGeom prst="rect">
            <a:avLst/>
          </a:prstGeom>
          <a:solidFill>
            <a:srgbClr val="1E3250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777240"/>
            <a:ext cx="8138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Q6.  What is Business Email Compromise (BEC)?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5760" y="15727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A9CC0"/>
                </a:solidFill>
              </a:rPr>
              <a:t>👆  Click the answer you think is correct to reveal the result</a:t>
            </a:r>
            <a:endParaRPr lang="en-US" sz="1050" dirty="0"/>
          </a:p>
        </p:txBody>
      </p:sp>
      <p:sp>
        <p:nvSpPr>
          <p:cNvPr id="16" name="Shape 14">
            <a:hlinkClick r:id="rId3" action="ppaction://hlinksldjump"/>
          </p:cNvPr>
          <p:cNvSpPr/>
          <p:nvPr/>
        </p:nvSpPr>
        <p:spPr>
          <a:xfrm>
            <a:off x="365760" y="192024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00C6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066544"/>
            <a:ext cx="292608" cy="292608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8" name="Text 16">
            <a:hlinkClick r:id="rId3" action="ppaction://hlinksldjump"/>
          </p:cNvPr>
          <p:cNvSpPr/>
          <p:nvPr/>
        </p:nvSpPr>
        <p:spPr>
          <a:xfrm>
            <a:off x="530352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1100" dirty="0"/>
          </a:p>
        </p:txBody>
      </p:sp>
      <p:sp>
        <p:nvSpPr>
          <p:cNvPr id="19" name="Text 17">
            <a:hlinkClick r:id="rId3" action="ppaction://hlinksldjump"/>
          </p:cNvPr>
          <p:cNvSpPr/>
          <p:nvPr/>
        </p:nvSpPr>
        <p:spPr>
          <a:xfrm>
            <a:off x="941832" y="1984248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A)  Spam emails sent to business mailing lists</a:t>
            </a:r>
            <a:endParaRPr lang="en-US" sz="1250" dirty="0"/>
          </a:p>
        </p:txBody>
      </p:sp>
      <p:sp>
        <p:nvSpPr>
          <p:cNvPr id="20" name="Shape 18">
            <a:hlinkClick r:id="rId3" action="ppaction://hlinksldjump"/>
          </p:cNvPr>
          <p:cNvSpPr/>
          <p:nvPr/>
        </p:nvSpPr>
        <p:spPr>
          <a:xfrm>
            <a:off x="365760" y="2624328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06D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770632"/>
            <a:ext cx="292608" cy="2926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>
            <a:hlinkClick r:id="rId3" action="ppaction://hlinksldjump"/>
          </p:cNvPr>
          <p:cNvSpPr/>
          <p:nvPr/>
        </p:nvSpPr>
        <p:spPr>
          <a:xfrm>
            <a:off x="530352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1100" dirty="0"/>
          </a:p>
        </p:txBody>
      </p:sp>
      <p:sp>
        <p:nvSpPr>
          <p:cNvPr id="23" name="Text 21">
            <a:hlinkClick r:id="rId3" action="ppaction://hlinksldjump"/>
          </p:cNvPr>
          <p:cNvSpPr/>
          <p:nvPr/>
        </p:nvSpPr>
        <p:spPr>
          <a:xfrm>
            <a:off x="941832" y="2688336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B)  Attackers impersonating executives or vendors to trick employees into wire transfers</a:t>
            </a:r>
            <a:endParaRPr lang="en-US" sz="1250" dirty="0"/>
          </a:p>
        </p:txBody>
      </p:sp>
      <p:sp>
        <p:nvSpPr>
          <p:cNvPr id="24" name="Shape 22">
            <a:hlinkClick r:id="rId3" action="ppaction://hlinksldjump"/>
          </p:cNvPr>
          <p:cNvSpPr/>
          <p:nvPr/>
        </p:nvSpPr>
        <p:spPr>
          <a:xfrm>
            <a:off x="365760" y="3328416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FFB70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3474720"/>
            <a:ext cx="292608" cy="29260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6" name="Text 24">
            <a:hlinkClick r:id="rId3" action="ppaction://hlinksldjump"/>
          </p:cNvPr>
          <p:cNvSpPr/>
          <p:nvPr/>
        </p:nvSpPr>
        <p:spPr>
          <a:xfrm>
            <a:off x="530352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1100" dirty="0"/>
          </a:p>
        </p:txBody>
      </p:sp>
      <p:sp>
        <p:nvSpPr>
          <p:cNvPr id="27" name="Text 25">
            <a:hlinkClick r:id="rId3" action="ppaction://hlinksldjump"/>
          </p:cNvPr>
          <p:cNvSpPr/>
          <p:nvPr/>
        </p:nvSpPr>
        <p:spPr>
          <a:xfrm>
            <a:off x="941832" y="339242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C)  Viruses that infect business computers through email attachments</a:t>
            </a:r>
            <a:endParaRPr lang="en-US" sz="1250" dirty="0"/>
          </a:p>
        </p:txBody>
      </p:sp>
      <p:sp>
        <p:nvSpPr>
          <p:cNvPr id="28" name="Shape 26">
            <a:hlinkClick r:id="rId3" action="ppaction://hlinksldjump"/>
          </p:cNvPr>
          <p:cNvSpPr/>
          <p:nvPr/>
        </p:nvSpPr>
        <p:spPr>
          <a:xfrm>
            <a:off x="365760" y="4032504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4178808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>
            <a:hlinkClick r:id="rId3" action="ppaction://hlinksldjump"/>
          </p:cNvPr>
          <p:cNvSpPr/>
          <p:nvPr/>
        </p:nvSpPr>
        <p:spPr>
          <a:xfrm>
            <a:off x="53035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1100" dirty="0"/>
          </a:p>
        </p:txBody>
      </p:sp>
      <p:sp>
        <p:nvSpPr>
          <p:cNvPr id="31" name="Text 29">
            <a:hlinkClick r:id="rId3" action="ppaction://hlinksldjump"/>
          </p:cNvPr>
          <p:cNvSpPr/>
          <p:nvPr/>
        </p:nvSpPr>
        <p:spPr>
          <a:xfrm>
            <a:off x="941832" y="409651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D)  Email marketing campaigns from legitimate businesses</a:t>
            </a:r>
            <a:endParaRPr lang="en-US" sz="1250" dirty="0"/>
          </a:p>
        </p:txBody>
      </p:sp>
      <p:sp>
        <p:nvSpPr>
          <p:cNvPr id="32" name="Shape 30">
            <a:hlinkClick r:id="rId4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3" name="Text 31">
            <a:hlinkClick r:id="rId4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HOME</a:t>
            </a:r>
            <a:endParaRPr lang="en-US" sz="900" dirty="0"/>
          </a:p>
        </p:txBody>
      </p:sp>
      <p:sp>
        <p:nvSpPr>
          <p:cNvPr id="34" name="Shape 32">
            <a:hlinkClick r:id="rId5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5" name="Text 33">
            <a:hlinkClick r:id="rId5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900" dirty="0"/>
          </a:p>
        </p:txBody>
      </p:sp>
      <p:sp>
        <p:nvSpPr>
          <p:cNvPr id="36" name="Shape 34">
            <a:hlinkClick r:id="rId3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7" name="Text 35">
            <a:hlinkClick r:id="rId3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CC0"/>
                </a:solidFill>
              </a:rPr>
              <a:t>16 / 28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28016"/>
            <a:ext cx="8412480" cy="50292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2801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QUIZ  —  Question 7 of 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60336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61504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65008" y="274320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6176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749808"/>
            <a:ext cx="8412480" cy="749808"/>
          </a:xfrm>
          <a:prstGeom prst="rect">
            <a:avLst/>
          </a:prstGeom>
          <a:solidFill>
            <a:srgbClr val="1E3250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777240"/>
            <a:ext cx="8138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Q7.  What is the MOST effective single defense against phishing account takeover?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5760" y="15727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A9CC0"/>
                </a:solidFill>
              </a:rPr>
              <a:t>👆  Click the answer you think is correct to reveal the result</a:t>
            </a:r>
            <a:endParaRPr lang="en-US" sz="1050" dirty="0"/>
          </a:p>
        </p:txBody>
      </p:sp>
      <p:sp>
        <p:nvSpPr>
          <p:cNvPr id="16" name="Shape 14">
            <a:hlinkClick r:id="rId3" action="ppaction://hlinksldjump"/>
          </p:cNvPr>
          <p:cNvSpPr/>
          <p:nvPr/>
        </p:nvSpPr>
        <p:spPr>
          <a:xfrm>
            <a:off x="365760" y="192024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00C6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066544"/>
            <a:ext cx="292608" cy="292608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8" name="Text 16">
            <a:hlinkClick r:id="rId3" action="ppaction://hlinksldjump"/>
          </p:cNvPr>
          <p:cNvSpPr/>
          <p:nvPr/>
        </p:nvSpPr>
        <p:spPr>
          <a:xfrm>
            <a:off x="530352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1100" dirty="0"/>
          </a:p>
        </p:txBody>
      </p:sp>
      <p:sp>
        <p:nvSpPr>
          <p:cNvPr id="19" name="Text 17">
            <a:hlinkClick r:id="rId3" action="ppaction://hlinksldjump"/>
          </p:cNvPr>
          <p:cNvSpPr/>
          <p:nvPr/>
        </p:nvSpPr>
        <p:spPr>
          <a:xfrm>
            <a:off x="941832" y="1984248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A)  Using a strong password on all accounts</a:t>
            </a:r>
            <a:endParaRPr lang="en-US" sz="1250" dirty="0"/>
          </a:p>
        </p:txBody>
      </p:sp>
      <p:sp>
        <p:nvSpPr>
          <p:cNvPr id="20" name="Shape 18">
            <a:hlinkClick r:id="rId3" action="ppaction://hlinksldjump"/>
          </p:cNvPr>
          <p:cNvSpPr/>
          <p:nvPr/>
        </p:nvSpPr>
        <p:spPr>
          <a:xfrm>
            <a:off x="365760" y="2624328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06D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770632"/>
            <a:ext cx="292608" cy="2926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>
            <a:hlinkClick r:id="rId3" action="ppaction://hlinksldjump"/>
          </p:cNvPr>
          <p:cNvSpPr/>
          <p:nvPr/>
        </p:nvSpPr>
        <p:spPr>
          <a:xfrm>
            <a:off x="530352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1100" dirty="0"/>
          </a:p>
        </p:txBody>
      </p:sp>
      <p:sp>
        <p:nvSpPr>
          <p:cNvPr id="23" name="Text 21">
            <a:hlinkClick r:id="rId3" action="ppaction://hlinksldjump"/>
          </p:cNvPr>
          <p:cNvSpPr/>
          <p:nvPr/>
        </p:nvSpPr>
        <p:spPr>
          <a:xfrm>
            <a:off x="941832" y="2688336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B)  Never opening emails from unknown senders</a:t>
            </a:r>
            <a:endParaRPr lang="en-US" sz="1250" dirty="0"/>
          </a:p>
        </p:txBody>
      </p:sp>
      <p:sp>
        <p:nvSpPr>
          <p:cNvPr id="24" name="Shape 22">
            <a:hlinkClick r:id="rId3" action="ppaction://hlinksldjump"/>
          </p:cNvPr>
          <p:cNvSpPr/>
          <p:nvPr/>
        </p:nvSpPr>
        <p:spPr>
          <a:xfrm>
            <a:off x="365760" y="3328416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FFB70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3474720"/>
            <a:ext cx="292608" cy="29260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6" name="Text 24">
            <a:hlinkClick r:id="rId3" action="ppaction://hlinksldjump"/>
          </p:cNvPr>
          <p:cNvSpPr/>
          <p:nvPr/>
        </p:nvSpPr>
        <p:spPr>
          <a:xfrm>
            <a:off x="530352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1100" dirty="0"/>
          </a:p>
        </p:txBody>
      </p:sp>
      <p:sp>
        <p:nvSpPr>
          <p:cNvPr id="27" name="Text 25">
            <a:hlinkClick r:id="rId3" action="ppaction://hlinksldjump"/>
          </p:cNvPr>
          <p:cNvSpPr/>
          <p:nvPr/>
        </p:nvSpPr>
        <p:spPr>
          <a:xfrm>
            <a:off x="941832" y="339242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C)  Enabling Multi-Factor Authentication (MFA) on all important accounts</a:t>
            </a:r>
            <a:endParaRPr lang="en-US" sz="1250" dirty="0"/>
          </a:p>
        </p:txBody>
      </p:sp>
      <p:sp>
        <p:nvSpPr>
          <p:cNvPr id="28" name="Shape 26">
            <a:hlinkClick r:id="rId3" action="ppaction://hlinksldjump"/>
          </p:cNvPr>
          <p:cNvSpPr/>
          <p:nvPr/>
        </p:nvSpPr>
        <p:spPr>
          <a:xfrm>
            <a:off x="365760" y="4032504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4178808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>
            <a:hlinkClick r:id="rId3" action="ppaction://hlinksldjump"/>
          </p:cNvPr>
          <p:cNvSpPr/>
          <p:nvPr/>
        </p:nvSpPr>
        <p:spPr>
          <a:xfrm>
            <a:off x="53035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1100" dirty="0"/>
          </a:p>
        </p:txBody>
      </p:sp>
      <p:sp>
        <p:nvSpPr>
          <p:cNvPr id="31" name="Text 29">
            <a:hlinkClick r:id="rId3" action="ppaction://hlinksldjump"/>
          </p:cNvPr>
          <p:cNvSpPr/>
          <p:nvPr/>
        </p:nvSpPr>
        <p:spPr>
          <a:xfrm>
            <a:off x="941832" y="409651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D)  Only using private browsing mode</a:t>
            </a:r>
            <a:endParaRPr lang="en-US" sz="1250" dirty="0"/>
          </a:p>
        </p:txBody>
      </p:sp>
      <p:sp>
        <p:nvSpPr>
          <p:cNvPr id="32" name="Shape 30">
            <a:hlinkClick r:id="rId4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3" name="Text 31">
            <a:hlinkClick r:id="rId4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HOME</a:t>
            </a:r>
            <a:endParaRPr lang="en-US" sz="900" dirty="0"/>
          </a:p>
        </p:txBody>
      </p:sp>
      <p:sp>
        <p:nvSpPr>
          <p:cNvPr id="34" name="Shape 32">
            <a:hlinkClick r:id="rId5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5" name="Text 33">
            <a:hlinkClick r:id="rId5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900" dirty="0"/>
          </a:p>
        </p:txBody>
      </p:sp>
      <p:sp>
        <p:nvSpPr>
          <p:cNvPr id="36" name="Shape 34">
            <a:hlinkClick r:id="rId3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7" name="Text 35">
            <a:hlinkClick r:id="rId3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CC0"/>
                </a:solidFill>
              </a:rPr>
              <a:t>17 / 28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28016"/>
            <a:ext cx="8412480" cy="50292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2801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QUIZ  —  Question 8 of 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60336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61504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65008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6176" y="274320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749808"/>
            <a:ext cx="8412480" cy="749808"/>
          </a:xfrm>
          <a:prstGeom prst="rect">
            <a:avLst/>
          </a:prstGeom>
          <a:solidFill>
            <a:srgbClr val="1E3250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777240"/>
            <a:ext cx="8138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Q8.  An email from 'ceo@yourcompany.com' urgently asks you to wire $50,000 to a new vendor. What do you do?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5760" y="15727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A9CC0"/>
                </a:solidFill>
              </a:rPr>
              <a:t>👆  Click the answer you think is correct to reveal the result</a:t>
            </a:r>
            <a:endParaRPr lang="en-US" sz="1050" dirty="0"/>
          </a:p>
        </p:txBody>
      </p:sp>
      <p:sp>
        <p:nvSpPr>
          <p:cNvPr id="16" name="Shape 14">
            <a:hlinkClick r:id="rId3" action="ppaction://hlinksldjump"/>
          </p:cNvPr>
          <p:cNvSpPr/>
          <p:nvPr/>
        </p:nvSpPr>
        <p:spPr>
          <a:xfrm>
            <a:off x="365760" y="192024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00C6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066544"/>
            <a:ext cx="292608" cy="292608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8" name="Text 16">
            <a:hlinkClick r:id="rId3" action="ppaction://hlinksldjump"/>
          </p:cNvPr>
          <p:cNvSpPr/>
          <p:nvPr/>
        </p:nvSpPr>
        <p:spPr>
          <a:xfrm>
            <a:off x="530352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1100" dirty="0"/>
          </a:p>
        </p:txBody>
      </p:sp>
      <p:sp>
        <p:nvSpPr>
          <p:cNvPr id="19" name="Text 17">
            <a:hlinkClick r:id="rId3" action="ppaction://hlinksldjump"/>
          </p:cNvPr>
          <p:cNvSpPr/>
          <p:nvPr/>
        </p:nvSpPr>
        <p:spPr>
          <a:xfrm>
            <a:off x="941832" y="1984248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A)  Process it immediately — it is from the CEO</a:t>
            </a:r>
            <a:endParaRPr lang="en-US" sz="1250" dirty="0"/>
          </a:p>
        </p:txBody>
      </p:sp>
      <p:sp>
        <p:nvSpPr>
          <p:cNvPr id="20" name="Shape 18">
            <a:hlinkClick r:id="rId3" action="ppaction://hlinksldjump"/>
          </p:cNvPr>
          <p:cNvSpPr/>
          <p:nvPr/>
        </p:nvSpPr>
        <p:spPr>
          <a:xfrm>
            <a:off x="365760" y="2624328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06D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770632"/>
            <a:ext cx="292608" cy="2926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>
            <a:hlinkClick r:id="rId3" action="ppaction://hlinksldjump"/>
          </p:cNvPr>
          <p:cNvSpPr/>
          <p:nvPr/>
        </p:nvSpPr>
        <p:spPr>
          <a:xfrm>
            <a:off x="530352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1100" dirty="0"/>
          </a:p>
        </p:txBody>
      </p:sp>
      <p:sp>
        <p:nvSpPr>
          <p:cNvPr id="23" name="Text 21">
            <a:hlinkClick r:id="rId3" action="ppaction://hlinksldjump"/>
          </p:cNvPr>
          <p:cNvSpPr/>
          <p:nvPr/>
        </p:nvSpPr>
        <p:spPr>
          <a:xfrm>
            <a:off x="941832" y="2688336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B)  Reply to the email asking for confirmation details</a:t>
            </a:r>
            <a:endParaRPr lang="en-US" sz="1250" dirty="0"/>
          </a:p>
        </p:txBody>
      </p:sp>
      <p:sp>
        <p:nvSpPr>
          <p:cNvPr id="24" name="Shape 22">
            <a:hlinkClick r:id="rId3" action="ppaction://hlinksldjump"/>
          </p:cNvPr>
          <p:cNvSpPr/>
          <p:nvPr/>
        </p:nvSpPr>
        <p:spPr>
          <a:xfrm>
            <a:off x="365760" y="3328416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FFB70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3474720"/>
            <a:ext cx="292608" cy="29260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6" name="Text 24">
            <a:hlinkClick r:id="rId3" action="ppaction://hlinksldjump"/>
          </p:cNvPr>
          <p:cNvSpPr/>
          <p:nvPr/>
        </p:nvSpPr>
        <p:spPr>
          <a:xfrm>
            <a:off x="530352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1100" dirty="0"/>
          </a:p>
        </p:txBody>
      </p:sp>
      <p:sp>
        <p:nvSpPr>
          <p:cNvPr id="27" name="Text 25">
            <a:hlinkClick r:id="rId3" action="ppaction://hlinksldjump"/>
          </p:cNvPr>
          <p:cNvSpPr/>
          <p:nvPr/>
        </p:nvSpPr>
        <p:spPr>
          <a:xfrm>
            <a:off x="941832" y="339242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C)  Call the CEO directly using their known phone number to verify</a:t>
            </a:r>
            <a:endParaRPr lang="en-US" sz="1250" dirty="0"/>
          </a:p>
        </p:txBody>
      </p:sp>
      <p:sp>
        <p:nvSpPr>
          <p:cNvPr id="28" name="Shape 26">
            <a:hlinkClick r:id="rId3" action="ppaction://hlinksldjump"/>
          </p:cNvPr>
          <p:cNvSpPr/>
          <p:nvPr/>
        </p:nvSpPr>
        <p:spPr>
          <a:xfrm>
            <a:off x="365760" y="4032504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62744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4178808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>
            <a:hlinkClick r:id="rId3" action="ppaction://hlinksldjump"/>
          </p:cNvPr>
          <p:cNvSpPr/>
          <p:nvPr/>
        </p:nvSpPr>
        <p:spPr>
          <a:xfrm>
            <a:off x="53035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D1B2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1100" dirty="0"/>
          </a:p>
        </p:txBody>
      </p:sp>
      <p:sp>
        <p:nvSpPr>
          <p:cNvPr id="31" name="Text 29">
            <a:hlinkClick r:id="rId3" action="ppaction://hlinksldjump"/>
          </p:cNvPr>
          <p:cNvSpPr/>
          <p:nvPr/>
        </p:nvSpPr>
        <p:spPr>
          <a:xfrm>
            <a:off x="941832" y="409651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D)  Forward it to your manager to decide</a:t>
            </a:r>
            <a:endParaRPr lang="en-US" sz="1250" dirty="0"/>
          </a:p>
        </p:txBody>
      </p:sp>
      <p:sp>
        <p:nvSpPr>
          <p:cNvPr id="32" name="Shape 30">
            <a:hlinkClick r:id="rId4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3" name="Text 31">
            <a:hlinkClick r:id="rId4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HOME</a:t>
            </a:r>
            <a:endParaRPr lang="en-US" sz="900" dirty="0"/>
          </a:p>
        </p:txBody>
      </p:sp>
      <p:sp>
        <p:nvSpPr>
          <p:cNvPr id="34" name="Shape 32">
            <a:hlinkClick r:id="rId5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5" name="Text 33">
            <a:hlinkClick r:id="rId5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900" dirty="0"/>
          </a:p>
        </p:txBody>
      </p:sp>
      <p:sp>
        <p:nvSpPr>
          <p:cNvPr id="36" name="Shape 34">
            <a:hlinkClick r:id="rId3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7" name="Text 35">
            <a:hlinkClick r:id="rId3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CC0"/>
                </a:solidFill>
              </a:rPr>
              <a:t>18 / 28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65760" y="112776"/>
            <a:ext cx="8412480" cy="50292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28016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QUIZ  —  Question 1 of 8  |  ANSWER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60336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61504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65008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6176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749808"/>
            <a:ext cx="8412480" cy="566928"/>
          </a:xfrm>
          <a:prstGeom prst="rect">
            <a:avLst/>
          </a:prstGeom>
          <a:solidFill>
            <a:srgbClr val="1E3250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691896"/>
            <a:ext cx="8138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Q1.  Which of the following is the BEST indicator of a phishing email?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1409700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1F101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1409700"/>
            <a:ext cx="91440" cy="56692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546860"/>
            <a:ext cx="292608" cy="292608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5468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0976" y="1482852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6666"/>
                </a:solidFill>
              </a:rPr>
              <a:t>A)  The email contains your full name</a:t>
            </a:r>
            <a:endParaRPr lang="en-US" sz="12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546860"/>
            <a:ext cx="292608" cy="29260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65760" y="2068068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062B1A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2068068"/>
            <a:ext cx="91440" cy="5669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2205228"/>
            <a:ext cx="292608" cy="2926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22052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50976" y="214122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D6A0"/>
                </a:solidFill>
              </a:rPr>
              <a:t>B)  The sender's domain is slightly misspelled (e.g. paypa1.com)</a:t>
            </a:r>
            <a:endParaRPr lang="en-US" sz="12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205228"/>
            <a:ext cx="292608" cy="292608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365760" y="2726436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1F101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65760" y="2726436"/>
            <a:ext cx="91440" cy="56692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48640" y="2863596"/>
            <a:ext cx="292608" cy="292608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48640" y="28635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950976" y="279958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6666"/>
                </a:solidFill>
              </a:rPr>
              <a:t>C)  The email was sent during business hours</a:t>
            </a:r>
            <a:endParaRPr lang="en-US" sz="125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863596"/>
            <a:ext cx="292608" cy="292608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365760" y="3384804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1F101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365760" y="3384804"/>
            <a:ext cx="91440" cy="56692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48640" y="3521964"/>
            <a:ext cx="292608" cy="292608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48640" y="35219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950976" y="345795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6666"/>
                </a:solidFill>
              </a:rPr>
              <a:t>D)  The email includes a company logo</a:t>
            </a:r>
            <a:endParaRPr lang="en-US" sz="1250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521964"/>
            <a:ext cx="292608" cy="292608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365760" y="4061460"/>
            <a:ext cx="8412480" cy="594360"/>
          </a:xfrm>
          <a:prstGeom prst="rect">
            <a:avLst/>
          </a:prstGeom>
          <a:solidFill>
            <a:srgbClr val="042B18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365760" y="4061460"/>
            <a:ext cx="91440" cy="594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48640" y="4070604"/>
            <a:ext cx="81381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6D6A0"/>
                </a:solidFill>
              </a:rPr>
              <a:t>💡  Misspelled domains are one of the top signs of phishing. Attackers use lookalike domains like 'paypa1.com' or 'g00gle.com' to deceive victims. Names and logos can be easily copied — always check the domain!</a:t>
            </a:r>
            <a:endParaRPr lang="en-US" sz="1050" dirty="0"/>
          </a:p>
        </p:txBody>
      </p:sp>
      <p:sp>
        <p:nvSpPr>
          <p:cNvPr id="42" name="Shape 36">
            <a:hlinkClick r:id="rId5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3" name="Text 37">
            <a:hlinkClick r:id="rId5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HOME</a:t>
            </a:r>
            <a:endParaRPr lang="en-US" sz="900" dirty="0"/>
          </a:p>
        </p:txBody>
      </p:sp>
      <p:sp>
        <p:nvSpPr>
          <p:cNvPr id="44" name="Shape 38">
            <a:hlinkClick r:id="rId6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5" name="Text 39">
            <a:hlinkClick r:id="rId6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900" dirty="0"/>
          </a:p>
        </p:txBody>
      </p:sp>
      <p:sp>
        <p:nvSpPr>
          <p:cNvPr id="46" name="Shape 40">
            <a:hlinkClick r:id="rId7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7" name="Text 41">
            <a:hlinkClick r:id="rId7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411480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CC0"/>
                </a:solidFill>
              </a:rPr>
              <a:t>19 / 28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65760" y="89916"/>
            <a:ext cx="8412480" cy="50292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28016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QUIZ  —  Question 2 of 8  |  ANSWER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60336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61504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65008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6176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713232"/>
            <a:ext cx="8412480" cy="566928"/>
          </a:xfrm>
          <a:prstGeom prst="rect">
            <a:avLst/>
          </a:prstGeom>
          <a:solidFill>
            <a:srgbClr val="1E3250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4" name="Text 12"/>
          <p:cNvSpPr/>
          <p:nvPr/>
        </p:nvSpPr>
        <p:spPr>
          <a:xfrm>
            <a:off x="502920" y="662940"/>
            <a:ext cx="8138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Q2.  What does 'Spear Phishing' mean?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1424940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1F101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1424940"/>
            <a:ext cx="91440" cy="56692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562100"/>
            <a:ext cx="292608" cy="292608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5621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0976" y="1498092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6666"/>
                </a:solidFill>
              </a:rPr>
              <a:t>A)  Phishing attacks that use SMS messages</a:t>
            </a:r>
            <a:endParaRPr lang="en-US" sz="12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562100"/>
            <a:ext cx="292608" cy="29260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65760" y="2083308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1F101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2083308"/>
            <a:ext cx="91440" cy="56692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2220468"/>
            <a:ext cx="292608" cy="292608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22204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50976" y="215646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6666"/>
                </a:solidFill>
              </a:rPr>
              <a:t>B)  Phishing attacks carried out via phone calls</a:t>
            </a:r>
            <a:endParaRPr lang="en-US" sz="12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220468"/>
            <a:ext cx="292608" cy="292608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365760" y="2741676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062B1A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65760" y="2741676"/>
            <a:ext cx="91440" cy="5669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48640" y="2878836"/>
            <a:ext cx="292608" cy="2926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48640" y="28788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950976" y="281482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D6A0"/>
                </a:solidFill>
              </a:rPr>
              <a:t>C)  Targeted phishing using personal details about the victim</a:t>
            </a:r>
            <a:endParaRPr lang="en-US" sz="125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878836"/>
            <a:ext cx="292608" cy="292608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365760" y="3400044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1F101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365760" y="3400044"/>
            <a:ext cx="91440" cy="56692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48640" y="3537204"/>
            <a:ext cx="292608" cy="292608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48640" y="35372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950976" y="347319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6666"/>
                </a:solidFill>
              </a:rPr>
              <a:t>D)  Phishing attacks aimed at random users</a:t>
            </a:r>
            <a:endParaRPr lang="en-US" sz="1250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537204"/>
            <a:ext cx="292608" cy="292608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365760" y="4076700"/>
            <a:ext cx="8412480" cy="594360"/>
          </a:xfrm>
          <a:prstGeom prst="rect">
            <a:avLst/>
          </a:prstGeom>
          <a:solidFill>
            <a:srgbClr val="042B18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365760" y="4076700"/>
            <a:ext cx="91440" cy="594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48640" y="4085844"/>
            <a:ext cx="81381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6D6A0"/>
                </a:solidFill>
              </a:rPr>
              <a:t>💡  Spear phishing is highly targeted. Attackers research victims on LinkedIn, social media, and data breaches to craft convincing personalized messages — unlike mass email blasts.</a:t>
            </a:r>
            <a:endParaRPr lang="en-US" sz="1050" dirty="0"/>
          </a:p>
        </p:txBody>
      </p:sp>
      <p:sp>
        <p:nvSpPr>
          <p:cNvPr id="42" name="Shape 36">
            <a:hlinkClick r:id="rId5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3" name="Text 37">
            <a:hlinkClick r:id="rId5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HOME</a:t>
            </a:r>
            <a:endParaRPr lang="en-US" sz="900" dirty="0"/>
          </a:p>
        </p:txBody>
      </p:sp>
      <p:sp>
        <p:nvSpPr>
          <p:cNvPr id="44" name="Shape 38">
            <a:hlinkClick r:id="rId6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5" name="Text 39">
            <a:hlinkClick r:id="rId6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900" dirty="0"/>
          </a:p>
        </p:txBody>
      </p:sp>
      <p:sp>
        <p:nvSpPr>
          <p:cNvPr id="46" name="Shape 40">
            <a:hlinkClick r:id="rId7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7" name="Text 41">
            <a:hlinkClick r:id="rId7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411480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CC0"/>
                </a:solidFill>
              </a:rPr>
              <a:t>20 / 28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65760" y="112776"/>
            <a:ext cx="8412480" cy="50292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28016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QUIZ  —  Question 3 of 8  |  ANSWER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60336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61504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65008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6176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726948"/>
            <a:ext cx="8412480" cy="542544"/>
          </a:xfrm>
          <a:prstGeom prst="rect">
            <a:avLst/>
          </a:prstGeom>
          <a:solidFill>
            <a:srgbClr val="1E3250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647700"/>
            <a:ext cx="8138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Q3.  You receive a text: 'Your bank account is locked. Click here immediately.' What do you do?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1379220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1F101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1379220"/>
            <a:ext cx="91440" cy="56692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516380"/>
            <a:ext cx="292608" cy="292608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5163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0976" y="1452372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6666"/>
                </a:solidFill>
              </a:rPr>
              <a:t>A)  Click the link and log in to fix the problem</a:t>
            </a:r>
            <a:endParaRPr lang="en-US" sz="12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516380"/>
            <a:ext cx="292608" cy="29260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65760" y="2037588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1F101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2037588"/>
            <a:ext cx="91440" cy="56692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2174748"/>
            <a:ext cx="292608" cy="292608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21747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50976" y="211074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6666"/>
                </a:solidFill>
              </a:rPr>
              <a:t>B)  Reply with your account number to verify your identity</a:t>
            </a:r>
            <a:endParaRPr lang="en-US" sz="12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174748"/>
            <a:ext cx="292608" cy="292608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365760" y="2695956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1F101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65760" y="2695956"/>
            <a:ext cx="91440" cy="56692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48640" y="2833116"/>
            <a:ext cx="292608" cy="292608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48640" y="28331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950976" y="276910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6666"/>
                </a:solidFill>
              </a:rPr>
              <a:t>C)  Ignore it — it is probably spam</a:t>
            </a:r>
            <a:endParaRPr lang="en-US" sz="125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833116"/>
            <a:ext cx="292608" cy="292608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365760" y="3354324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062B1A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365760" y="3354324"/>
            <a:ext cx="91440" cy="5669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48640" y="3491484"/>
            <a:ext cx="292608" cy="2926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48640" y="34914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950976" y="342747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D6A0"/>
                </a:solidFill>
              </a:rPr>
              <a:t>D)  Call your bank directly using the number on their official website</a:t>
            </a:r>
            <a:endParaRPr lang="en-US" sz="1250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491484"/>
            <a:ext cx="292608" cy="292608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365760" y="4030980"/>
            <a:ext cx="8412480" cy="594360"/>
          </a:xfrm>
          <a:prstGeom prst="rect">
            <a:avLst/>
          </a:prstGeom>
          <a:solidFill>
            <a:srgbClr val="042B18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365760" y="4030980"/>
            <a:ext cx="91440" cy="594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48640" y="4040124"/>
            <a:ext cx="81381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6D6A0"/>
                </a:solidFill>
              </a:rPr>
              <a:t>💡  Always verify suspicious messages by contacting the organization directly using official contact information — never using links or phone numbers provided inside the suspicious message.</a:t>
            </a:r>
            <a:endParaRPr lang="en-US" sz="1050" dirty="0"/>
          </a:p>
        </p:txBody>
      </p:sp>
      <p:sp>
        <p:nvSpPr>
          <p:cNvPr id="42" name="Shape 36">
            <a:hlinkClick r:id="rId5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3" name="Text 37">
            <a:hlinkClick r:id="rId5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HOME</a:t>
            </a:r>
            <a:endParaRPr lang="en-US" sz="900" dirty="0"/>
          </a:p>
        </p:txBody>
      </p:sp>
      <p:sp>
        <p:nvSpPr>
          <p:cNvPr id="44" name="Shape 38">
            <a:hlinkClick r:id="rId6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5" name="Text 39">
            <a:hlinkClick r:id="rId6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900" dirty="0"/>
          </a:p>
        </p:txBody>
      </p:sp>
      <p:sp>
        <p:nvSpPr>
          <p:cNvPr id="46" name="Shape 40">
            <a:hlinkClick r:id="rId7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7" name="Text 41">
            <a:hlinkClick r:id="rId7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411480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CC0"/>
                </a:solidFill>
              </a:rPr>
              <a:t>21 / 28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65760" y="89916"/>
            <a:ext cx="8412480" cy="50292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74676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QUIZ  —  Question 4 of 8  |  ANSWER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60336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61504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65008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6176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690372"/>
            <a:ext cx="8412480" cy="551688"/>
          </a:xfrm>
          <a:prstGeom prst="rect">
            <a:avLst/>
          </a:prstGeom>
          <a:solidFill>
            <a:srgbClr val="1E3250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624840"/>
            <a:ext cx="8138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Q4.  A website has HTTPS and a padlock icon. Is it definitely safe?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1417320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1F101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1417320"/>
            <a:ext cx="91440" cy="56692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554480"/>
            <a:ext cx="292608" cy="292608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0976" y="1490472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6666"/>
                </a:solidFill>
              </a:rPr>
              <a:t>A)  Yes — HTTPS means the site is verified and trustworthy</a:t>
            </a:r>
            <a:endParaRPr lang="en-US" sz="12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554480"/>
            <a:ext cx="292608" cy="29260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65760" y="2075688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062B1A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2075688"/>
            <a:ext cx="91440" cy="5669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2212848"/>
            <a:ext cx="292608" cy="2926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50976" y="214884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D6A0"/>
                </a:solidFill>
              </a:rPr>
              <a:t>B)  No — HTTPS only encrypts data; it does NOT verify the site is legitimate</a:t>
            </a:r>
            <a:endParaRPr lang="en-US" sz="12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212848"/>
            <a:ext cx="292608" cy="292608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365760" y="2734056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1F101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65760" y="2734056"/>
            <a:ext cx="91440" cy="56692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48640" y="2871216"/>
            <a:ext cx="292608" cy="292608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48640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950976" y="280720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6666"/>
                </a:solidFill>
              </a:rPr>
              <a:t>C)  Yes — only real companies can get HTTPS certificates</a:t>
            </a:r>
            <a:endParaRPr lang="en-US" sz="125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871216"/>
            <a:ext cx="292608" cy="292608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365760" y="3392424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1F101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365760" y="3392424"/>
            <a:ext cx="91440" cy="56692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48640" y="3529584"/>
            <a:ext cx="292608" cy="292608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4864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950976" y="346557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6666"/>
                </a:solidFill>
              </a:rPr>
              <a:t>D)  No — HTTPS sites are always government-only sites</a:t>
            </a:r>
            <a:endParaRPr lang="en-US" sz="1250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529584"/>
            <a:ext cx="292608" cy="292608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365760" y="4069080"/>
            <a:ext cx="8412480" cy="594360"/>
          </a:xfrm>
          <a:prstGeom prst="rect">
            <a:avLst/>
          </a:prstGeom>
          <a:solidFill>
            <a:srgbClr val="042B18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365760" y="4069080"/>
            <a:ext cx="91440" cy="594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48640" y="4078224"/>
            <a:ext cx="81381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6D6A0"/>
                </a:solidFill>
              </a:rPr>
              <a:t>💡  HTTPS encrypts the connection between your browser and the site, but it does NOT verify site ownership. Phishing sites can and do obtain HTTPS certificates — always check the full domain!</a:t>
            </a:r>
            <a:endParaRPr lang="en-US" sz="1050" dirty="0"/>
          </a:p>
        </p:txBody>
      </p:sp>
      <p:sp>
        <p:nvSpPr>
          <p:cNvPr id="42" name="Shape 36">
            <a:hlinkClick r:id="rId5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3" name="Text 37">
            <a:hlinkClick r:id="rId5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HOME</a:t>
            </a:r>
            <a:endParaRPr lang="en-US" sz="900" dirty="0"/>
          </a:p>
        </p:txBody>
      </p:sp>
      <p:sp>
        <p:nvSpPr>
          <p:cNvPr id="44" name="Shape 38">
            <a:hlinkClick r:id="rId6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5" name="Text 39">
            <a:hlinkClick r:id="rId6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900" dirty="0"/>
          </a:p>
        </p:txBody>
      </p:sp>
      <p:sp>
        <p:nvSpPr>
          <p:cNvPr id="46" name="Shape 40">
            <a:hlinkClick r:id="rId7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7" name="Text 41">
            <a:hlinkClick r:id="rId7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411480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CC0"/>
                </a:solidFill>
              </a:rPr>
              <a:t>22 / 28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65760" y="89916"/>
            <a:ext cx="8412480" cy="50292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28016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QUIZ  —  Question 5 of 8  |  ANSWER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60336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61504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65008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6176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688848"/>
            <a:ext cx="8412480" cy="566928"/>
          </a:xfrm>
          <a:prstGeom prst="rect">
            <a:avLst/>
          </a:prstGeom>
          <a:solidFill>
            <a:srgbClr val="1E3250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647700"/>
            <a:ext cx="8138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Q5.  What is the main goal of 'Urgency Manipulation' in a phishing attack?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1402080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1F101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1402080"/>
            <a:ext cx="91440" cy="56692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539240"/>
            <a:ext cx="292608" cy="292608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539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0976" y="1475232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6666"/>
                </a:solidFill>
              </a:rPr>
              <a:t>A)  To make the email look professional</a:t>
            </a:r>
            <a:endParaRPr lang="en-US" sz="12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539240"/>
            <a:ext cx="292608" cy="29260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65760" y="2060448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062B1A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2060448"/>
            <a:ext cx="91440" cy="5669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2197608"/>
            <a:ext cx="292608" cy="2926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2197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50976" y="213360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D6A0"/>
                </a:solidFill>
              </a:rPr>
              <a:t>B)  To prevent the victim from thinking clearly and verifying the request</a:t>
            </a:r>
            <a:endParaRPr lang="en-US" sz="12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197608"/>
            <a:ext cx="292608" cy="292608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365760" y="2718816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1F101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65760" y="2718816"/>
            <a:ext cx="91440" cy="56692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48640" y="2855976"/>
            <a:ext cx="292608" cy="292608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48640" y="2855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950976" y="279196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6666"/>
                </a:solidFill>
              </a:rPr>
              <a:t>C)  To bypass spam filters with fast delivery</a:t>
            </a:r>
            <a:endParaRPr lang="en-US" sz="125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855976"/>
            <a:ext cx="292608" cy="292608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365760" y="3377184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1F101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365760" y="3377184"/>
            <a:ext cx="91440" cy="56692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48640" y="3514344"/>
            <a:ext cx="292608" cy="292608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48640" y="3514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950976" y="345033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6666"/>
                </a:solidFill>
              </a:rPr>
              <a:t>D)  To attach malware without detection</a:t>
            </a:r>
            <a:endParaRPr lang="en-US" sz="1250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514344"/>
            <a:ext cx="292608" cy="292608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365760" y="4053840"/>
            <a:ext cx="8412480" cy="594360"/>
          </a:xfrm>
          <a:prstGeom prst="rect">
            <a:avLst/>
          </a:prstGeom>
          <a:solidFill>
            <a:srgbClr val="042B18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365760" y="4053840"/>
            <a:ext cx="91440" cy="594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48640" y="4062984"/>
            <a:ext cx="81381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6D6A0"/>
                </a:solidFill>
              </a:rPr>
              <a:t>💡  Urgency manipulation (e.g. '24 hours or your account is deleted!') is designed to panic you into acting without pausing to verify. When in doubt — slow down and check!</a:t>
            </a:r>
            <a:endParaRPr lang="en-US" sz="1050" dirty="0"/>
          </a:p>
        </p:txBody>
      </p:sp>
      <p:sp>
        <p:nvSpPr>
          <p:cNvPr id="42" name="Shape 36">
            <a:hlinkClick r:id="rId5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3" name="Text 37">
            <a:hlinkClick r:id="rId5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HOME</a:t>
            </a:r>
            <a:endParaRPr lang="en-US" sz="900" dirty="0"/>
          </a:p>
        </p:txBody>
      </p:sp>
      <p:sp>
        <p:nvSpPr>
          <p:cNvPr id="44" name="Shape 38">
            <a:hlinkClick r:id="rId6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5" name="Text 39">
            <a:hlinkClick r:id="rId6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900" dirty="0"/>
          </a:p>
        </p:txBody>
      </p:sp>
      <p:sp>
        <p:nvSpPr>
          <p:cNvPr id="46" name="Shape 40">
            <a:hlinkClick r:id="rId7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7" name="Text 41">
            <a:hlinkClick r:id="rId7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411480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CC0"/>
                </a:solidFill>
              </a:rPr>
              <a:t>23 / 28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65760" y="89916"/>
            <a:ext cx="8412480" cy="50292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28016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QUIZ  —  Question 6 of 8  |  ANSWER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60336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61504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65008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6176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711708"/>
            <a:ext cx="8412480" cy="612648"/>
          </a:xfrm>
          <a:prstGeom prst="rect">
            <a:avLst/>
          </a:prstGeom>
          <a:solidFill>
            <a:srgbClr val="1E3250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701040"/>
            <a:ext cx="8138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Q6.  What is Business Email Compromise (BEC)?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1440180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1F101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1440180"/>
            <a:ext cx="91440" cy="56692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577340"/>
            <a:ext cx="292608" cy="292608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5773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0976" y="1513332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6666"/>
                </a:solidFill>
              </a:rPr>
              <a:t>A)  Spam emails sent to business mailing lists</a:t>
            </a:r>
            <a:endParaRPr lang="en-US" sz="12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577340"/>
            <a:ext cx="292608" cy="29260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65760" y="2098548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062B1A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2098548"/>
            <a:ext cx="91440" cy="5669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2235708"/>
            <a:ext cx="292608" cy="2926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22357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50976" y="217170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D6A0"/>
                </a:solidFill>
              </a:rPr>
              <a:t>B)  Attackers impersonating executives or vendors to trick employees into wire transfers</a:t>
            </a:r>
            <a:endParaRPr lang="en-US" sz="12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235708"/>
            <a:ext cx="292608" cy="292608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365760" y="2756916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1F101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65760" y="2756916"/>
            <a:ext cx="91440" cy="56692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48640" y="2894076"/>
            <a:ext cx="292608" cy="292608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48640" y="28940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950976" y="283006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6666"/>
                </a:solidFill>
              </a:rPr>
              <a:t>C)  Viruses that infect business computers through email attachments</a:t>
            </a:r>
            <a:endParaRPr lang="en-US" sz="125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894076"/>
            <a:ext cx="292608" cy="292608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365760" y="3415284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1F101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365760" y="3415284"/>
            <a:ext cx="91440" cy="56692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48640" y="3552444"/>
            <a:ext cx="292608" cy="292608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48640" y="35524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950976" y="348843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6666"/>
                </a:solidFill>
              </a:rPr>
              <a:t>D)  Email marketing campaigns from legitimate businesses</a:t>
            </a:r>
            <a:endParaRPr lang="en-US" sz="1250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552444"/>
            <a:ext cx="292608" cy="292608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365760" y="4091940"/>
            <a:ext cx="8412480" cy="594360"/>
          </a:xfrm>
          <a:prstGeom prst="rect">
            <a:avLst/>
          </a:prstGeom>
          <a:solidFill>
            <a:srgbClr val="042B18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365760" y="4091940"/>
            <a:ext cx="91440" cy="594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48640" y="4101084"/>
            <a:ext cx="81381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6D6A0"/>
                </a:solidFill>
              </a:rPr>
              <a:t>💡  BEC attacks impersonate CEOs, CFOs, or trusted vendors to trick employees into wire transfers or sharing sensitive data. These attacks cost billions annually — always verify financial requests via phone.</a:t>
            </a:r>
            <a:endParaRPr lang="en-US" sz="1050" dirty="0"/>
          </a:p>
        </p:txBody>
      </p:sp>
      <p:sp>
        <p:nvSpPr>
          <p:cNvPr id="42" name="Shape 36">
            <a:hlinkClick r:id="rId5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3" name="Text 37">
            <a:hlinkClick r:id="rId5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HOME</a:t>
            </a:r>
            <a:endParaRPr lang="en-US" sz="900" dirty="0"/>
          </a:p>
        </p:txBody>
      </p:sp>
      <p:sp>
        <p:nvSpPr>
          <p:cNvPr id="44" name="Shape 38">
            <a:hlinkClick r:id="rId6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5" name="Text 39">
            <a:hlinkClick r:id="rId6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900" dirty="0"/>
          </a:p>
        </p:txBody>
      </p:sp>
      <p:sp>
        <p:nvSpPr>
          <p:cNvPr id="46" name="Shape 40">
            <a:hlinkClick r:id="rId7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7" name="Text 41">
            <a:hlinkClick r:id="rId7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411480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CC0"/>
                </a:solidFill>
              </a:rPr>
              <a:t>24 / 28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65760" y="89916"/>
            <a:ext cx="8412480" cy="50292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28016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QUIZ  —  Question 7 of 8  |  ANSWER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60336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61504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65008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6176" y="274320"/>
            <a:ext cx="128016" cy="128016"/>
          </a:xfrm>
          <a:prstGeom prst="ellipse">
            <a:avLst/>
          </a:prstGeom>
          <a:solidFill>
            <a:srgbClr val="1E32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711708"/>
            <a:ext cx="8412480" cy="580644"/>
          </a:xfrm>
          <a:prstGeom prst="rect">
            <a:avLst/>
          </a:prstGeom>
          <a:solidFill>
            <a:srgbClr val="1E3250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662940"/>
            <a:ext cx="8138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Q7.  What is the MOST effective single defense against phishing account takeover?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1409700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1F101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1409700"/>
            <a:ext cx="91440" cy="56692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546860"/>
            <a:ext cx="292608" cy="292608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5468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0976" y="1482852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6666"/>
                </a:solidFill>
              </a:rPr>
              <a:t>A)  Using a strong password on all accounts</a:t>
            </a:r>
            <a:endParaRPr lang="en-US" sz="12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546860"/>
            <a:ext cx="292608" cy="29260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65760" y="2068068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1F101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2068068"/>
            <a:ext cx="91440" cy="56692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2205228"/>
            <a:ext cx="292608" cy="292608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22052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50976" y="214122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6666"/>
                </a:solidFill>
              </a:rPr>
              <a:t>B)  Never opening emails from unknown senders</a:t>
            </a:r>
            <a:endParaRPr lang="en-US" sz="12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205228"/>
            <a:ext cx="292608" cy="292608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365760" y="2726436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062B1A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65760" y="2726436"/>
            <a:ext cx="91440" cy="5669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48640" y="2863596"/>
            <a:ext cx="292608" cy="2926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48640" y="28635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950976" y="279958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D6A0"/>
                </a:solidFill>
              </a:rPr>
              <a:t>C)  Enabling Multi-Factor Authentication (MFA) on all important accounts</a:t>
            </a:r>
            <a:endParaRPr lang="en-US" sz="125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863596"/>
            <a:ext cx="292608" cy="292608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365760" y="3384804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1F101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365760" y="3384804"/>
            <a:ext cx="91440" cy="56692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48640" y="3521964"/>
            <a:ext cx="292608" cy="292608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48640" y="35219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950976" y="345795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6666"/>
                </a:solidFill>
              </a:rPr>
              <a:t>D)  Only using private browsing mode</a:t>
            </a:r>
            <a:endParaRPr lang="en-US" sz="1250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521964"/>
            <a:ext cx="292608" cy="292608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365760" y="4061460"/>
            <a:ext cx="8412480" cy="594360"/>
          </a:xfrm>
          <a:prstGeom prst="rect">
            <a:avLst/>
          </a:prstGeom>
          <a:solidFill>
            <a:srgbClr val="042B18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365760" y="4061460"/>
            <a:ext cx="91440" cy="594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48640" y="4070604"/>
            <a:ext cx="81381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6D6A0"/>
                </a:solidFill>
              </a:rPr>
              <a:t>💡  MFA is the single most effective defense — even if attackers steal your password, they cannot access your account without the second factor. Enable it everywhere, especially email, banking, and social media!</a:t>
            </a:r>
            <a:endParaRPr lang="en-US" sz="1050" dirty="0"/>
          </a:p>
        </p:txBody>
      </p:sp>
      <p:sp>
        <p:nvSpPr>
          <p:cNvPr id="42" name="Shape 36">
            <a:hlinkClick r:id="rId5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3" name="Text 37">
            <a:hlinkClick r:id="rId5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HOME</a:t>
            </a:r>
            <a:endParaRPr lang="en-US" sz="900" dirty="0"/>
          </a:p>
        </p:txBody>
      </p:sp>
      <p:sp>
        <p:nvSpPr>
          <p:cNvPr id="44" name="Shape 38">
            <a:hlinkClick r:id="rId6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5" name="Text 39">
            <a:hlinkClick r:id="rId6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900" dirty="0"/>
          </a:p>
        </p:txBody>
      </p:sp>
      <p:sp>
        <p:nvSpPr>
          <p:cNvPr id="46" name="Shape 40">
            <a:hlinkClick r:id="rId7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7" name="Text 41">
            <a:hlinkClick r:id="rId7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411480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CC0"/>
                </a:solidFill>
              </a:rPr>
              <a:t>25 / 28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65760" y="74676"/>
            <a:ext cx="8412480" cy="50292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28016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QUIZ  —  Question 8 of 8  |  ANSWER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60336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61504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65008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6176" y="2743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711708"/>
            <a:ext cx="8412480" cy="580644"/>
          </a:xfrm>
          <a:prstGeom prst="rect">
            <a:avLst/>
          </a:prstGeom>
          <a:solidFill>
            <a:srgbClr val="1E3250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678180"/>
            <a:ext cx="8138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Q8.  An email from 'ceo@yourcompany.com' urgently asks you to wire $50,000 to a new vendor. What do you do?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1440180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1F101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1440180"/>
            <a:ext cx="91440" cy="56692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577340"/>
            <a:ext cx="292608" cy="292608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5773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0976" y="1513332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6666"/>
                </a:solidFill>
              </a:rPr>
              <a:t>A)  Process it immediately — it is from the CEO</a:t>
            </a:r>
            <a:endParaRPr lang="en-US" sz="12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577340"/>
            <a:ext cx="292608" cy="29260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65760" y="2098548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1F101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2098548"/>
            <a:ext cx="91440" cy="56692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2235708"/>
            <a:ext cx="292608" cy="292608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22357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50976" y="217170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6666"/>
                </a:solidFill>
              </a:rPr>
              <a:t>B)  Reply to the email asking for confirmation details</a:t>
            </a:r>
            <a:endParaRPr lang="en-US" sz="12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235708"/>
            <a:ext cx="292608" cy="292608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365760" y="2756916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062B1A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65760" y="2756916"/>
            <a:ext cx="91440" cy="5669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48640" y="2894076"/>
            <a:ext cx="292608" cy="2926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48640" y="28940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950976" y="283006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D6A0"/>
                </a:solidFill>
              </a:rPr>
              <a:t>C)  Call the CEO directly using their known phone number to verify</a:t>
            </a:r>
            <a:endParaRPr lang="en-US" sz="125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894076"/>
            <a:ext cx="292608" cy="292608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365760" y="3415284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1F101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365760" y="3415284"/>
            <a:ext cx="91440" cy="56692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48640" y="3552444"/>
            <a:ext cx="292608" cy="292608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48640" y="35524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950976" y="348843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6666"/>
                </a:solidFill>
              </a:rPr>
              <a:t>D)  Forward it to your manager to decide</a:t>
            </a:r>
            <a:endParaRPr lang="en-US" sz="1250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552444"/>
            <a:ext cx="292608" cy="292608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365760" y="4091940"/>
            <a:ext cx="8412480" cy="594360"/>
          </a:xfrm>
          <a:prstGeom prst="rect">
            <a:avLst/>
          </a:prstGeom>
          <a:solidFill>
            <a:srgbClr val="042B18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365760" y="4091940"/>
            <a:ext cx="91440" cy="594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48640" y="4101084"/>
            <a:ext cx="81381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6D6A0"/>
                </a:solidFill>
              </a:rPr>
              <a:t>💡  CEO fraud (BEC) is extremely common — the 'from' address can be spoofed. ALWAYS verify unusual financial requests through a separate trusted communication channel. Call the CEO directly on their known number.</a:t>
            </a:r>
            <a:endParaRPr lang="en-US" sz="1050" dirty="0"/>
          </a:p>
        </p:txBody>
      </p:sp>
      <p:sp>
        <p:nvSpPr>
          <p:cNvPr id="42" name="Shape 36">
            <a:hlinkClick r:id="rId5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3" name="Text 37">
            <a:hlinkClick r:id="rId5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HOME</a:t>
            </a:r>
            <a:endParaRPr lang="en-US" sz="900" dirty="0"/>
          </a:p>
        </p:txBody>
      </p:sp>
      <p:sp>
        <p:nvSpPr>
          <p:cNvPr id="44" name="Shape 38">
            <a:hlinkClick r:id="rId6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5" name="Text 39">
            <a:hlinkClick r:id="rId6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900" dirty="0"/>
          </a:p>
        </p:txBody>
      </p:sp>
      <p:sp>
        <p:nvSpPr>
          <p:cNvPr id="46" name="Shape 40">
            <a:hlinkClick r:id="rId7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7" name="Text 41">
            <a:hlinkClick r:id="rId7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411480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CC0"/>
                </a:solidFill>
              </a:rPr>
              <a:t>26 / 28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838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067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QUIZ COMPLETE!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15468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</a:rPr>
              <a:t>Check your score based on how many answers you got right: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2004060"/>
            <a:ext cx="1993392" cy="228600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2004060"/>
            <a:ext cx="1993392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214122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00"/>
                </a:solidFill>
              </a:rPr>
              <a:t>8 / 8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5760" y="259842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Perfect Score!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3055620"/>
            <a:ext cx="19933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C4DE"/>
                </a:solidFill>
              </a:rPr>
              <a:t>Outstanding — you are a phishing expert!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60320" y="2004060"/>
            <a:ext cx="1993392" cy="228600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60320" y="2004060"/>
            <a:ext cx="1993392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60320" y="214122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D6A0"/>
                </a:solidFill>
              </a:rPr>
              <a:t>6–7 / 8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560320" y="259842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Passed ✓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560320" y="3055620"/>
            <a:ext cx="19933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C4DE"/>
                </a:solidFill>
              </a:rPr>
              <a:t>Great job! Review the questions you missed.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54880" y="2004060"/>
            <a:ext cx="1993392" cy="228600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2004060"/>
            <a:ext cx="1993392" cy="7315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0" y="214122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703"/>
                </a:solidFill>
              </a:rPr>
              <a:t>4–5 / 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754880" y="259842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Almost There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54880" y="3055620"/>
            <a:ext cx="19933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C4DE"/>
                </a:solidFill>
              </a:rPr>
              <a:t>Good effort — revisit the training modules.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949440" y="2004060"/>
            <a:ext cx="1993392" cy="228600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949440" y="2004060"/>
            <a:ext cx="1993392" cy="7315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49440" y="214122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4444"/>
                </a:solidFill>
              </a:rPr>
              <a:t>0–3 / 8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949440" y="259842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Needs More Practice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949440" y="3055620"/>
            <a:ext cx="19933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C4DE"/>
                </a:solidFill>
              </a:rPr>
              <a:t>Please redo the training before retaking.</a:t>
            </a:r>
            <a:endParaRPr lang="en-US" sz="1050" dirty="0"/>
          </a:p>
        </p:txBody>
      </p:sp>
      <p:sp>
        <p:nvSpPr>
          <p:cNvPr id="26" name="Shape 23">
            <a:hlinkClick r:id="rId4" action="ppaction://hlinksldjump"/>
          </p:cNvPr>
          <p:cNvSpPr/>
          <p:nvPr/>
        </p:nvSpPr>
        <p:spPr>
          <a:xfrm>
            <a:off x="3200400" y="4427220"/>
            <a:ext cx="2743200" cy="320040"/>
          </a:xfrm>
          <a:prstGeom prst="roundRect">
            <a:avLst>
              <a:gd name="adj" fmla="val 20000"/>
            </a:avLst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7" name="Text 24">
            <a:hlinkClick r:id="rId4" action="ppaction://hlinksldjump"/>
          </p:cNvPr>
          <p:cNvSpPr/>
          <p:nvPr/>
        </p:nvSpPr>
        <p:spPr>
          <a:xfrm>
            <a:off x="3200400" y="44272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🔄  Retake Quiz from Start</a:t>
            </a:r>
            <a:endParaRPr lang="en-US" sz="1100" dirty="0"/>
          </a:p>
        </p:txBody>
      </p:sp>
      <p:sp>
        <p:nvSpPr>
          <p:cNvPr id="28" name="Shape 25">
            <a:hlinkClick r:id="rId5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9" name="Text 26">
            <a:hlinkClick r:id="rId5" action="ppaction://hlinksldjump"/>
          </p:cNvPr>
          <p:cNvSpPr/>
          <p:nvPr/>
        </p:nvSpPr>
        <p:spPr>
          <a:xfrm>
            <a:off x="1371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HOME</a:t>
            </a:r>
            <a:endParaRPr lang="en-US" sz="900" dirty="0"/>
          </a:p>
        </p:txBody>
      </p:sp>
      <p:sp>
        <p:nvSpPr>
          <p:cNvPr id="30" name="Shape 27">
            <a:hlinkClick r:id="rId6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1" name="Text 28">
            <a:hlinkClick r:id="rId6" action="ppaction://hlinksldjump"/>
          </p:cNvPr>
          <p:cNvSpPr/>
          <p:nvPr/>
        </p:nvSpPr>
        <p:spPr>
          <a:xfrm>
            <a:off x="86868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900" dirty="0"/>
          </a:p>
        </p:txBody>
      </p:sp>
      <p:sp>
        <p:nvSpPr>
          <p:cNvPr id="32" name="Shape 29">
            <a:hlinkClick r:id="rId5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3" name="Text 30">
            <a:hlinkClick r:id="rId5" action="ppaction://hlinksldjump"/>
          </p:cNvPr>
          <p:cNvSpPr/>
          <p:nvPr/>
        </p:nvSpPr>
        <p:spPr>
          <a:xfrm>
            <a:off x="836676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11480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CC0"/>
                </a:solidFill>
              </a:rPr>
              <a:t>27 / 28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0500" y="1630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 Module Navigation</a:t>
            </a:r>
            <a:endParaRPr lang="en-US" sz="2800" dirty="0"/>
          </a:p>
        </p:txBody>
      </p:sp>
      <p:sp>
        <p:nvSpPr>
          <p:cNvPr id="4" name="Shape 2">
            <a:hlinkClick r:id="rId3" action="ppaction://hlinksldjump"/>
          </p:cNvPr>
          <p:cNvSpPr/>
          <p:nvPr/>
        </p:nvSpPr>
        <p:spPr>
          <a:xfrm>
            <a:off x="190500" y="822960"/>
            <a:ext cx="4297680" cy="594360"/>
          </a:xfrm>
          <a:prstGeom prst="rect">
            <a:avLst/>
          </a:prstGeom>
          <a:solidFill>
            <a:srgbClr val="162744"/>
          </a:solidFill>
          <a:ln w="3810">
            <a:solidFill>
              <a:srgbClr val="00C6FF"/>
            </a:solidFill>
            <a:prstDash val="solid"/>
          </a:ln>
        </p:spPr>
      </p:sp>
      <p:sp>
        <p:nvSpPr>
          <p:cNvPr id="5" name="Shape 3">
            <a:hlinkClick r:id="rId3" action="ppaction://hlinksldjump"/>
          </p:cNvPr>
          <p:cNvSpPr/>
          <p:nvPr/>
        </p:nvSpPr>
        <p:spPr>
          <a:xfrm>
            <a:off x="190500" y="822960"/>
            <a:ext cx="475488" cy="594360"/>
          </a:xfrm>
          <a:prstGeom prst="rect">
            <a:avLst/>
          </a:prstGeom>
          <a:solidFill>
            <a:srgbClr val="0072FF"/>
          </a:solidFill>
          <a:ln w="12700">
            <a:solidFill>
              <a:srgbClr val="0072FF"/>
            </a:solidFill>
            <a:prstDash val="solid"/>
          </a:ln>
        </p:spPr>
      </p:sp>
      <p:sp>
        <p:nvSpPr>
          <p:cNvPr id="6" name="Text 4">
            <a:hlinkClick r:id="rId3" action="ppaction://hlinksldjump"/>
          </p:cNvPr>
          <p:cNvSpPr/>
          <p:nvPr/>
        </p:nvSpPr>
        <p:spPr>
          <a:xfrm>
            <a:off x="190500" y="822960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endParaRPr lang="en-US" sz="1100" dirty="0"/>
          </a:p>
        </p:txBody>
      </p:sp>
      <p:sp>
        <p:nvSpPr>
          <p:cNvPr id="7" name="Text 5">
            <a:hlinkClick r:id="rId3" action="ppaction://hlinksldjump"/>
          </p:cNvPr>
          <p:cNvSpPr/>
          <p:nvPr/>
        </p:nvSpPr>
        <p:spPr>
          <a:xfrm>
            <a:off x="739140" y="8229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Introduction to Phishing</a:t>
            </a:r>
            <a:endParaRPr lang="en-US" sz="1200" dirty="0"/>
          </a:p>
        </p:txBody>
      </p:sp>
      <p:sp>
        <p:nvSpPr>
          <p:cNvPr id="8" name="Text 6">
            <a:hlinkClick r:id="rId3" action="ppaction://hlinksldjump"/>
          </p:cNvPr>
          <p:cNvSpPr/>
          <p:nvPr/>
        </p:nvSpPr>
        <p:spPr>
          <a:xfrm>
            <a:off x="4168140" y="822960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u="sng" dirty="0">
                <a:solidFill>
                  <a:srgbClr val="00C6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</a:t>
            </a:r>
            <a:endParaRPr lang="en-US" sz="1600" dirty="0"/>
          </a:p>
        </p:txBody>
      </p:sp>
      <p:sp>
        <p:nvSpPr>
          <p:cNvPr id="9" name="Shape 7">
            <a:hlinkClick r:id="rId4" action="ppaction://hlinksldjump"/>
          </p:cNvPr>
          <p:cNvSpPr/>
          <p:nvPr/>
        </p:nvSpPr>
        <p:spPr>
          <a:xfrm>
            <a:off x="190500" y="1481328"/>
            <a:ext cx="4297680" cy="594360"/>
          </a:xfrm>
          <a:prstGeom prst="rect">
            <a:avLst/>
          </a:prstGeom>
          <a:solidFill>
            <a:srgbClr val="162744"/>
          </a:solidFill>
          <a:ln w="3810">
            <a:solidFill>
              <a:srgbClr val="00C6FF"/>
            </a:solidFill>
            <a:prstDash val="solid"/>
          </a:ln>
        </p:spPr>
      </p:sp>
      <p:sp>
        <p:nvSpPr>
          <p:cNvPr id="10" name="Shape 8">
            <a:hlinkClick r:id="rId4" action="ppaction://hlinksldjump"/>
          </p:cNvPr>
          <p:cNvSpPr/>
          <p:nvPr/>
        </p:nvSpPr>
        <p:spPr>
          <a:xfrm>
            <a:off x="190500" y="1481328"/>
            <a:ext cx="475488" cy="594360"/>
          </a:xfrm>
          <a:prstGeom prst="rect">
            <a:avLst/>
          </a:prstGeom>
          <a:solidFill>
            <a:srgbClr val="0072FF"/>
          </a:solidFill>
          <a:ln w="12700">
            <a:solidFill>
              <a:srgbClr val="0072FF"/>
            </a:solidFill>
            <a:prstDash val="solid"/>
          </a:ln>
        </p:spPr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190500" y="1481328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endParaRPr lang="en-US" sz="1100" dirty="0"/>
          </a:p>
        </p:txBody>
      </p:sp>
      <p:sp>
        <p:nvSpPr>
          <p:cNvPr id="12" name="Text 10">
            <a:hlinkClick r:id="rId4" action="ppaction://hlinksldjump"/>
          </p:cNvPr>
          <p:cNvSpPr/>
          <p:nvPr/>
        </p:nvSpPr>
        <p:spPr>
          <a:xfrm>
            <a:off x="739140" y="148132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FFFFFF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Types of Phishing Attacks</a:t>
            </a:r>
            <a:endParaRPr lang="en-US" sz="1200" dirty="0"/>
          </a:p>
        </p:txBody>
      </p:sp>
      <p:sp>
        <p:nvSpPr>
          <p:cNvPr id="13" name="Text 11">
            <a:hlinkClick r:id="rId4" action="ppaction://hlinksldjump"/>
          </p:cNvPr>
          <p:cNvSpPr/>
          <p:nvPr/>
        </p:nvSpPr>
        <p:spPr>
          <a:xfrm>
            <a:off x="4168140" y="1481328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u="sng" dirty="0">
                <a:solidFill>
                  <a:srgbClr val="00C6FF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</a:t>
            </a:r>
            <a:endParaRPr lang="en-US" sz="1600" dirty="0"/>
          </a:p>
        </p:txBody>
      </p:sp>
      <p:sp>
        <p:nvSpPr>
          <p:cNvPr id="14" name="Shape 12">
            <a:hlinkClick r:id="rId5" action="ppaction://hlinksldjump"/>
          </p:cNvPr>
          <p:cNvSpPr/>
          <p:nvPr/>
        </p:nvSpPr>
        <p:spPr>
          <a:xfrm>
            <a:off x="190500" y="2139696"/>
            <a:ext cx="4297680" cy="594360"/>
          </a:xfrm>
          <a:prstGeom prst="rect">
            <a:avLst/>
          </a:prstGeom>
          <a:solidFill>
            <a:srgbClr val="162744"/>
          </a:solidFill>
          <a:ln w="3810">
            <a:solidFill>
              <a:srgbClr val="00C6FF"/>
            </a:solidFill>
            <a:prstDash val="solid"/>
          </a:ln>
        </p:spPr>
      </p:sp>
      <p:sp>
        <p:nvSpPr>
          <p:cNvPr id="15" name="Shape 13">
            <a:hlinkClick r:id="rId5" action="ppaction://hlinksldjump"/>
          </p:cNvPr>
          <p:cNvSpPr/>
          <p:nvPr/>
        </p:nvSpPr>
        <p:spPr>
          <a:xfrm>
            <a:off x="190500" y="2139696"/>
            <a:ext cx="475488" cy="594360"/>
          </a:xfrm>
          <a:prstGeom prst="rect">
            <a:avLst/>
          </a:prstGeom>
          <a:solidFill>
            <a:srgbClr val="0072FF"/>
          </a:solidFill>
          <a:ln w="12700">
            <a:solidFill>
              <a:srgbClr val="0072FF"/>
            </a:solidFill>
            <a:prstDash val="solid"/>
          </a:ln>
        </p:spPr>
      </p:sp>
      <p:sp>
        <p:nvSpPr>
          <p:cNvPr id="16" name="Text 14">
            <a:hlinkClick r:id="rId5" action="ppaction://hlinksldjump"/>
          </p:cNvPr>
          <p:cNvSpPr/>
          <p:nvPr/>
        </p:nvSpPr>
        <p:spPr>
          <a:xfrm>
            <a:off x="190500" y="2139696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lang="en-US" sz="1100" dirty="0"/>
          </a:p>
        </p:txBody>
      </p:sp>
      <p:sp>
        <p:nvSpPr>
          <p:cNvPr id="17" name="Text 15">
            <a:hlinkClick r:id="rId5" action="ppaction://hlinksldjump"/>
          </p:cNvPr>
          <p:cNvSpPr/>
          <p:nvPr/>
        </p:nvSpPr>
        <p:spPr>
          <a:xfrm>
            <a:off x="739140" y="2139696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FFFFFF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Recognizing Phishing</a:t>
            </a:r>
            <a:endParaRPr lang="en-US" sz="1200" dirty="0"/>
          </a:p>
        </p:txBody>
      </p:sp>
      <p:sp>
        <p:nvSpPr>
          <p:cNvPr id="18" name="Text 16">
            <a:hlinkClick r:id="rId5" action="ppaction://hlinksldjump"/>
          </p:cNvPr>
          <p:cNvSpPr/>
          <p:nvPr/>
        </p:nvSpPr>
        <p:spPr>
          <a:xfrm>
            <a:off x="4168140" y="2139696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u="sng" dirty="0">
                <a:solidFill>
                  <a:srgbClr val="00C6FF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</a:t>
            </a:r>
            <a:endParaRPr lang="en-US" sz="1600" dirty="0"/>
          </a:p>
        </p:txBody>
      </p:sp>
      <p:sp>
        <p:nvSpPr>
          <p:cNvPr id="19" name="Shape 17">
            <a:hlinkClick r:id="rId6" action="ppaction://hlinksldjump"/>
          </p:cNvPr>
          <p:cNvSpPr/>
          <p:nvPr/>
        </p:nvSpPr>
        <p:spPr>
          <a:xfrm>
            <a:off x="190500" y="2798064"/>
            <a:ext cx="4297680" cy="594360"/>
          </a:xfrm>
          <a:prstGeom prst="rect">
            <a:avLst/>
          </a:prstGeom>
          <a:solidFill>
            <a:srgbClr val="162744"/>
          </a:solidFill>
          <a:ln w="3810">
            <a:solidFill>
              <a:srgbClr val="00C6FF"/>
            </a:solidFill>
            <a:prstDash val="solid"/>
          </a:ln>
        </p:spPr>
      </p:sp>
      <p:sp>
        <p:nvSpPr>
          <p:cNvPr id="20" name="Shape 18">
            <a:hlinkClick r:id="rId6" action="ppaction://hlinksldjump"/>
          </p:cNvPr>
          <p:cNvSpPr/>
          <p:nvPr/>
        </p:nvSpPr>
        <p:spPr>
          <a:xfrm>
            <a:off x="190500" y="2798064"/>
            <a:ext cx="475488" cy="594360"/>
          </a:xfrm>
          <a:prstGeom prst="rect">
            <a:avLst/>
          </a:prstGeom>
          <a:solidFill>
            <a:srgbClr val="0072FF"/>
          </a:solidFill>
          <a:ln w="12700">
            <a:solidFill>
              <a:srgbClr val="0072FF"/>
            </a:solidFill>
            <a:prstDash val="solid"/>
          </a:ln>
        </p:spPr>
      </p:sp>
      <p:sp>
        <p:nvSpPr>
          <p:cNvPr id="21" name="Text 19">
            <a:hlinkClick r:id="rId6" action="ppaction://hlinksldjump"/>
          </p:cNvPr>
          <p:cNvSpPr/>
          <p:nvPr/>
        </p:nvSpPr>
        <p:spPr>
          <a:xfrm>
            <a:off x="190500" y="2798064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lang="en-US" sz="1100" dirty="0"/>
          </a:p>
        </p:txBody>
      </p:sp>
      <p:sp>
        <p:nvSpPr>
          <p:cNvPr id="22" name="Text 20">
            <a:hlinkClick r:id="rId6" action="ppaction://hlinksldjump"/>
          </p:cNvPr>
          <p:cNvSpPr/>
          <p:nvPr/>
        </p:nvSpPr>
        <p:spPr>
          <a:xfrm>
            <a:off x="739140" y="2798064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FFFFFF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Fake Websites &amp; URL Tricks</a:t>
            </a:r>
            <a:endParaRPr lang="en-US" sz="1200" dirty="0"/>
          </a:p>
        </p:txBody>
      </p:sp>
      <p:sp>
        <p:nvSpPr>
          <p:cNvPr id="23" name="Text 21">
            <a:hlinkClick r:id="rId6" action="ppaction://hlinksldjump"/>
          </p:cNvPr>
          <p:cNvSpPr/>
          <p:nvPr/>
        </p:nvSpPr>
        <p:spPr>
          <a:xfrm>
            <a:off x="4168140" y="2798064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u="sng" dirty="0">
                <a:solidFill>
                  <a:srgbClr val="00C6FF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</a:t>
            </a:r>
            <a:endParaRPr lang="en-US" sz="1600" dirty="0"/>
          </a:p>
        </p:txBody>
      </p:sp>
      <p:sp>
        <p:nvSpPr>
          <p:cNvPr id="24" name="Shape 22">
            <a:hlinkClick r:id="rId7" action="ppaction://hlinksldjump"/>
          </p:cNvPr>
          <p:cNvSpPr/>
          <p:nvPr/>
        </p:nvSpPr>
        <p:spPr>
          <a:xfrm>
            <a:off x="190500" y="3456432"/>
            <a:ext cx="4297680" cy="594360"/>
          </a:xfrm>
          <a:prstGeom prst="rect">
            <a:avLst/>
          </a:prstGeom>
          <a:solidFill>
            <a:srgbClr val="162744"/>
          </a:solidFill>
          <a:ln w="3810">
            <a:solidFill>
              <a:srgbClr val="00C6FF"/>
            </a:solidFill>
            <a:prstDash val="solid"/>
          </a:ln>
        </p:spPr>
      </p:sp>
      <p:sp>
        <p:nvSpPr>
          <p:cNvPr id="25" name="Shape 23">
            <a:hlinkClick r:id="rId7" action="ppaction://hlinksldjump"/>
          </p:cNvPr>
          <p:cNvSpPr/>
          <p:nvPr/>
        </p:nvSpPr>
        <p:spPr>
          <a:xfrm>
            <a:off x="190500" y="3456432"/>
            <a:ext cx="475488" cy="594360"/>
          </a:xfrm>
          <a:prstGeom prst="rect">
            <a:avLst/>
          </a:prstGeom>
          <a:solidFill>
            <a:srgbClr val="0072FF"/>
          </a:solidFill>
          <a:ln w="12700">
            <a:solidFill>
              <a:srgbClr val="0072FF"/>
            </a:solidFill>
            <a:prstDash val="solid"/>
          </a:ln>
        </p:spPr>
      </p:sp>
      <p:sp>
        <p:nvSpPr>
          <p:cNvPr id="26" name="Text 24">
            <a:hlinkClick r:id="rId7" action="ppaction://hlinksldjump"/>
          </p:cNvPr>
          <p:cNvSpPr/>
          <p:nvPr/>
        </p:nvSpPr>
        <p:spPr>
          <a:xfrm>
            <a:off x="190500" y="3456432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05</a:t>
            </a:r>
            <a:endParaRPr lang="en-US" sz="1100" dirty="0"/>
          </a:p>
        </p:txBody>
      </p:sp>
      <p:sp>
        <p:nvSpPr>
          <p:cNvPr id="27" name="Text 25">
            <a:hlinkClick r:id="rId7" action="ppaction://hlinksldjump"/>
          </p:cNvPr>
          <p:cNvSpPr/>
          <p:nvPr/>
        </p:nvSpPr>
        <p:spPr>
          <a:xfrm>
            <a:off x="739140" y="345643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FFFFFF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Social Engineering Tactics</a:t>
            </a:r>
            <a:endParaRPr lang="en-US" sz="1200" dirty="0"/>
          </a:p>
        </p:txBody>
      </p:sp>
      <p:sp>
        <p:nvSpPr>
          <p:cNvPr id="28" name="Text 26">
            <a:hlinkClick r:id="rId7" action="ppaction://hlinksldjump"/>
          </p:cNvPr>
          <p:cNvSpPr/>
          <p:nvPr/>
        </p:nvSpPr>
        <p:spPr>
          <a:xfrm>
            <a:off x="4168140" y="3456432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u="sng" dirty="0">
                <a:solidFill>
                  <a:srgbClr val="00C6FF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</a:t>
            </a:r>
            <a:endParaRPr lang="en-US" sz="1600" dirty="0"/>
          </a:p>
        </p:txBody>
      </p:sp>
      <p:sp>
        <p:nvSpPr>
          <p:cNvPr id="29" name="Shape 27">
            <a:hlinkClick r:id="rId8" action="ppaction://hlinksldjump"/>
          </p:cNvPr>
          <p:cNvSpPr/>
          <p:nvPr/>
        </p:nvSpPr>
        <p:spPr>
          <a:xfrm>
            <a:off x="4762500" y="822960"/>
            <a:ext cx="4297680" cy="594360"/>
          </a:xfrm>
          <a:prstGeom prst="rect">
            <a:avLst/>
          </a:prstGeom>
          <a:solidFill>
            <a:srgbClr val="162744"/>
          </a:solidFill>
          <a:ln w="3810">
            <a:solidFill>
              <a:srgbClr val="00C6FF"/>
            </a:solidFill>
            <a:prstDash val="solid"/>
          </a:ln>
        </p:spPr>
      </p:sp>
      <p:sp>
        <p:nvSpPr>
          <p:cNvPr id="30" name="Shape 28">
            <a:hlinkClick r:id="rId8" action="ppaction://hlinksldjump"/>
          </p:cNvPr>
          <p:cNvSpPr/>
          <p:nvPr/>
        </p:nvSpPr>
        <p:spPr>
          <a:xfrm>
            <a:off x="4762500" y="822960"/>
            <a:ext cx="475488" cy="594360"/>
          </a:xfrm>
          <a:prstGeom prst="rect">
            <a:avLst/>
          </a:prstGeom>
          <a:solidFill>
            <a:srgbClr val="0072FF"/>
          </a:solidFill>
          <a:ln w="12700">
            <a:solidFill>
              <a:srgbClr val="0072FF"/>
            </a:solidFill>
            <a:prstDash val="solid"/>
          </a:ln>
        </p:spPr>
      </p:sp>
      <p:sp>
        <p:nvSpPr>
          <p:cNvPr id="31" name="Text 29">
            <a:hlinkClick r:id="rId8" action="ppaction://hlinksldjump"/>
          </p:cNvPr>
          <p:cNvSpPr/>
          <p:nvPr/>
        </p:nvSpPr>
        <p:spPr>
          <a:xfrm>
            <a:off x="4762500" y="822960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06</a:t>
            </a:r>
            <a:endParaRPr lang="en-US" sz="1100" dirty="0"/>
          </a:p>
        </p:txBody>
      </p:sp>
      <p:sp>
        <p:nvSpPr>
          <p:cNvPr id="32" name="Text 30">
            <a:hlinkClick r:id="rId8" action="ppaction://hlinksldjump"/>
          </p:cNvPr>
          <p:cNvSpPr/>
          <p:nvPr/>
        </p:nvSpPr>
        <p:spPr>
          <a:xfrm>
            <a:off x="5311140" y="8229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FFFFFF"/>
                </a:solidFill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Prevention &amp; Safety Tips</a:t>
            </a:r>
            <a:endParaRPr lang="en-US" sz="1200" dirty="0"/>
          </a:p>
        </p:txBody>
      </p:sp>
      <p:sp>
        <p:nvSpPr>
          <p:cNvPr id="33" name="Text 31">
            <a:hlinkClick r:id="rId8" action="ppaction://hlinksldjump"/>
          </p:cNvPr>
          <p:cNvSpPr/>
          <p:nvPr/>
        </p:nvSpPr>
        <p:spPr>
          <a:xfrm>
            <a:off x="8740140" y="822960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u="sng" dirty="0">
                <a:solidFill>
                  <a:srgbClr val="00C6FF"/>
                </a:solidFill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</a:t>
            </a:r>
            <a:endParaRPr lang="en-US" sz="1600" dirty="0"/>
          </a:p>
        </p:txBody>
      </p:sp>
      <p:sp>
        <p:nvSpPr>
          <p:cNvPr id="34" name="Shape 32">
            <a:hlinkClick r:id="rId9" action="ppaction://hlinksldjump"/>
          </p:cNvPr>
          <p:cNvSpPr/>
          <p:nvPr/>
        </p:nvSpPr>
        <p:spPr>
          <a:xfrm>
            <a:off x="4762500" y="1481328"/>
            <a:ext cx="4297680" cy="594360"/>
          </a:xfrm>
          <a:prstGeom prst="rect">
            <a:avLst/>
          </a:prstGeom>
          <a:solidFill>
            <a:srgbClr val="162744"/>
          </a:solidFill>
          <a:ln w="3810">
            <a:solidFill>
              <a:srgbClr val="00C6FF"/>
            </a:solidFill>
            <a:prstDash val="solid"/>
          </a:ln>
        </p:spPr>
      </p:sp>
      <p:sp>
        <p:nvSpPr>
          <p:cNvPr id="35" name="Shape 33">
            <a:hlinkClick r:id="rId9" action="ppaction://hlinksldjump"/>
          </p:cNvPr>
          <p:cNvSpPr/>
          <p:nvPr/>
        </p:nvSpPr>
        <p:spPr>
          <a:xfrm>
            <a:off x="4762500" y="1481328"/>
            <a:ext cx="475488" cy="594360"/>
          </a:xfrm>
          <a:prstGeom prst="rect">
            <a:avLst/>
          </a:prstGeom>
          <a:solidFill>
            <a:srgbClr val="0072FF"/>
          </a:solidFill>
          <a:ln w="12700">
            <a:solidFill>
              <a:srgbClr val="0072FF"/>
            </a:solidFill>
            <a:prstDash val="solid"/>
          </a:ln>
        </p:spPr>
      </p:sp>
      <p:sp>
        <p:nvSpPr>
          <p:cNvPr id="36" name="Text 34">
            <a:hlinkClick r:id="rId9" action="ppaction://hlinksldjump"/>
          </p:cNvPr>
          <p:cNvSpPr/>
          <p:nvPr/>
        </p:nvSpPr>
        <p:spPr>
          <a:xfrm>
            <a:off x="4762500" y="1481328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07</a:t>
            </a:r>
            <a:endParaRPr lang="en-US" sz="1100" dirty="0"/>
          </a:p>
        </p:txBody>
      </p:sp>
      <p:sp>
        <p:nvSpPr>
          <p:cNvPr id="37" name="Text 35">
            <a:hlinkClick r:id="rId9" action="ppaction://hlinksldjump"/>
          </p:cNvPr>
          <p:cNvSpPr/>
          <p:nvPr/>
        </p:nvSpPr>
        <p:spPr>
          <a:xfrm>
            <a:off x="5311140" y="148132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FFFFFF"/>
                </a:solidFill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Real-World Case Studies</a:t>
            </a:r>
            <a:endParaRPr lang="en-US" sz="1200" dirty="0"/>
          </a:p>
        </p:txBody>
      </p:sp>
      <p:sp>
        <p:nvSpPr>
          <p:cNvPr id="38" name="Text 36">
            <a:hlinkClick r:id="rId9" action="ppaction://hlinksldjump"/>
          </p:cNvPr>
          <p:cNvSpPr/>
          <p:nvPr/>
        </p:nvSpPr>
        <p:spPr>
          <a:xfrm>
            <a:off x="8740140" y="1481328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u="sng" dirty="0">
                <a:solidFill>
                  <a:srgbClr val="00C6FF"/>
                </a:solidFill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</a:t>
            </a:r>
            <a:endParaRPr lang="en-US" sz="1600" dirty="0"/>
          </a:p>
        </p:txBody>
      </p:sp>
      <p:sp>
        <p:nvSpPr>
          <p:cNvPr id="39" name="Shape 37">
            <a:hlinkClick r:id="rId10" action="ppaction://hlinksldjump"/>
          </p:cNvPr>
          <p:cNvSpPr/>
          <p:nvPr/>
        </p:nvSpPr>
        <p:spPr>
          <a:xfrm>
            <a:off x="4762500" y="2139696"/>
            <a:ext cx="4297680" cy="594360"/>
          </a:xfrm>
          <a:prstGeom prst="rect">
            <a:avLst/>
          </a:prstGeom>
          <a:solidFill>
            <a:srgbClr val="162744"/>
          </a:solidFill>
          <a:ln w="3810">
            <a:solidFill>
              <a:srgbClr val="00C6FF"/>
            </a:solidFill>
            <a:prstDash val="solid"/>
          </a:ln>
        </p:spPr>
      </p:sp>
      <p:sp>
        <p:nvSpPr>
          <p:cNvPr id="40" name="Shape 38">
            <a:hlinkClick r:id="rId10" action="ppaction://hlinksldjump"/>
          </p:cNvPr>
          <p:cNvSpPr/>
          <p:nvPr/>
        </p:nvSpPr>
        <p:spPr>
          <a:xfrm>
            <a:off x="4762500" y="2139696"/>
            <a:ext cx="475488" cy="594360"/>
          </a:xfrm>
          <a:prstGeom prst="rect">
            <a:avLst/>
          </a:prstGeom>
          <a:solidFill>
            <a:srgbClr val="0072FF"/>
          </a:solidFill>
          <a:ln w="12700">
            <a:solidFill>
              <a:srgbClr val="0072FF"/>
            </a:solidFill>
            <a:prstDash val="solid"/>
          </a:ln>
        </p:spPr>
      </p:sp>
      <p:sp>
        <p:nvSpPr>
          <p:cNvPr id="41" name="Text 39">
            <a:hlinkClick r:id="rId10" action="ppaction://hlinksldjump"/>
          </p:cNvPr>
          <p:cNvSpPr/>
          <p:nvPr/>
        </p:nvSpPr>
        <p:spPr>
          <a:xfrm>
            <a:off x="4762500" y="2139696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08</a:t>
            </a:r>
            <a:endParaRPr lang="en-US" sz="1100" dirty="0"/>
          </a:p>
        </p:txBody>
      </p:sp>
      <p:sp>
        <p:nvSpPr>
          <p:cNvPr id="42" name="Text 40">
            <a:hlinkClick r:id="rId10" action="ppaction://hlinksldjump"/>
          </p:cNvPr>
          <p:cNvSpPr/>
          <p:nvPr/>
        </p:nvSpPr>
        <p:spPr>
          <a:xfrm>
            <a:off x="5311140" y="2139696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FFFFFF"/>
                </a:solidFill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 Phishing Email</a:t>
            </a:r>
            <a:endParaRPr lang="en-US" sz="1200" dirty="0"/>
          </a:p>
        </p:txBody>
      </p:sp>
      <p:sp>
        <p:nvSpPr>
          <p:cNvPr id="43" name="Text 41">
            <a:hlinkClick r:id="rId10" action="ppaction://hlinksldjump"/>
          </p:cNvPr>
          <p:cNvSpPr/>
          <p:nvPr/>
        </p:nvSpPr>
        <p:spPr>
          <a:xfrm>
            <a:off x="8740140" y="2139696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u="sng" dirty="0">
                <a:solidFill>
                  <a:srgbClr val="00C6FF"/>
                </a:solidFill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</a:t>
            </a:r>
            <a:endParaRPr lang="en-US" sz="1600" dirty="0"/>
          </a:p>
        </p:txBody>
      </p:sp>
      <p:sp>
        <p:nvSpPr>
          <p:cNvPr id="44" name="Shape 42">
            <a:hlinkClick r:id="rId11" action="ppaction://hlinksldjump"/>
          </p:cNvPr>
          <p:cNvSpPr/>
          <p:nvPr/>
        </p:nvSpPr>
        <p:spPr>
          <a:xfrm>
            <a:off x="4762500" y="2798064"/>
            <a:ext cx="4297680" cy="594360"/>
          </a:xfrm>
          <a:prstGeom prst="rect">
            <a:avLst/>
          </a:prstGeom>
          <a:solidFill>
            <a:srgbClr val="162744"/>
          </a:solidFill>
          <a:ln w="3810">
            <a:solidFill>
              <a:srgbClr val="00C6FF"/>
            </a:solidFill>
            <a:prstDash val="solid"/>
          </a:ln>
        </p:spPr>
      </p:sp>
      <p:sp>
        <p:nvSpPr>
          <p:cNvPr id="45" name="Shape 43">
            <a:hlinkClick r:id="rId11" action="ppaction://hlinksldjump"/>
          </p:cNvPr>
          <p:cNvSpPr/>
          <p:nvPr/>
        </p:nvSpPr>
        <p:spPr>
          <a:xfrm>
            <a:off x="4762500" y="2798064"/>
            <a:ext cx="475488" cy="594360"/>
          </a:xfrm>
          <a:prstGeom prst="rect">
            <a:avLst/>
          </a:prstGeom>
          <a:solidFill>
            <a:srgbClr val="0072FF"/>
          </a:solidFill>
          <a:ln w="12700">
            <a:solidFill>
              <a:srgbClr val="0072FF"/>
            </a:solidFill>
            <a:prstDash val="solid"/>
          </a:ln>
        </p:spPr>
      </p:sp>
      <p:sp>
        <p:nvSpPr>
          <p:cNvPr id="46" name="Text 44">
            <a:hlinkClick r:id="rId11" action="ppaction://hlinksldjump"/>
          </p:cNvPr>
          <p:cNvSpPr/>
          <p:nvPr/>
        </p:nvSpPr>
        <p:spPr>
          <a:xfrm>
            <a:off x="4762500" y="2798064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🎯</a:t>
            </a:r>
            <a:endParaRPr lang="en-US" sz="1100" dirty="0"/>
          </a:p>
        </p:txBody>
      </p:sp>
      <p:sp>
        <p:nvSpPr>
          <p:cNvPr id="47" name="Text 45">
            <a:hlinkClick r:id="rId11" action="ppaction://hlinksldjump"/>
          </p:cNvPr>
          <p:cNvSpPr/>
          <p:nvPr/>
        </p:nvSpPr>
        <p:spPr>
          <a:xfrm>
            <a:off x="5311140" y="2798064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FFFFFF"/>
                </a:solidFill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Interactive Quiz</a:t>
            </a:r>
            <a:endParaRPr lang="en-US" sz="1200" dirty="0"/>
          </a:p>
        </p:txBody>
      </p:sp>
      <p:sp>
        <p:nvSpPr>
          <p:cNvPr id="48" name="Text 46">
            <a:hlinkClick r:id="rId11" action="ppaction://hlinksldjump"/>
          </p:cNvPr>
          <p:cNvSpPr/>
          <p:nvPr/>
        </p:nvSpPr>
        <p:spPr>
          <a:xfrm>
            <a:off x="8740140" y="2798064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u="sng" dirty="0">
                <a:solidFill>
                  <a:srgbClr val="00C6FF"/>
                </a:solidFill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90500" y="4288536"/>
            <a:ext cx="8412480" cy="274320"/>
          </a:xfrm>
          <a:prstGeom prst="rect">
            <a:avLst/>
          </a:prstGeom>
          <a:solidFill>
            <a:srgbClr val="162744"/>
          </a:solidFill>
          <a:ln w="63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21564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CC0"/>
                </a:solidFill>
              </a:rPr>
              <a:t>💡  Tip: Click any module row to jump directly to that section. Use HOME button on any slide to return here.</a:t>
            </a:r>
            <a:endParaRPr lang="en-US" sz="950" dirty="0"/>
          </a:p>
        </p:txBody>
      </p:sp>
      <p:sp>
        <p:nvSpPr>
          <p:cNvPr id="51" name="Shape 49">
            <a:hlinkClick r:id="rId12" action="ppaction://hlinksldjump"/>
          </p:cNvPr>
          <p:cNvSpPr/>
          <p:nvPr/>
        </p:nvSpPr>
        <p:spPr>
          <a:xfrm>
            <a:off x="693420" y="47731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32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52" name="Text 50">
            <a:hlinkClick r:id="rId12" action="ppaction://hlinksldjump"/>
          </p:cNvPr>
          <p:cNvSpPr/>
          <p:nvPr/>
        </p:nvSpPr>
        <p:spPr>
          <a:xfrm>
            <a:off x="693420" y="4773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93954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CC0"/>
                </a:solidFill>
              </a:rPr>
              <a:t>28 / 28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2698</Words>
  <Application>Microsoft Office PowerPoint</Application>
  <PresentationFormat>On-screen Show (16:9)</PresentationFormat>
  <Paragraphs>491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PptxGenJS</dc:creator>
  <cp:lastModifiedBy>Yhaw Richie</cp:lastModifiedBy>
  <cp:revision>49</cp:revision>
  <dcterms:created xsi:type="dcterms:W3CDTF">2026-06-12T22:58:23Z</dcterms:created>
  <dcterms:modified xsi:type="dcterms:W3CDTF">2026-06-13T02:38:11Z</dcterms:modified>
</cp:coreProperties>
</file>